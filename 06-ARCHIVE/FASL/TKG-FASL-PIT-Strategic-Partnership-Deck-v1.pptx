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FASL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1737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فصل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Clinical Knowledge Infrastructure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platform for sovereign clinical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Partnership Opportunity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250B+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annual healthcare spending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of clinical knowledge is imported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has world-class hospitals but lacks sovereign clinical knowledge infrastructure.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Three Critical Gaps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286000" cy="5486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decisions rely on foreign evidence from non-Saudi populations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097280"/>
            <a:ext cx="2286000" cy="5486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Gap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18288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clinical data exists in silos, unusable for evidence generation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2286000" cy="5486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sovereign clinical AI trained on Saudi patient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Now: Vision 2030 Alignment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Transformation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Transformation Program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Leadership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Strategy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Pharma Manufacturing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NIDLP Initiative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1188720"/>
            <a:ext cx="3383280" cy="32004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20116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FASL addresses all four mandates simultaneously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6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FASL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Arabia's Sovereign Clinical Knowledge Infrastructure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medical education → evidence discovery → research production → scientific publishing into one compounding data ecosystem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C8A951"/>
          </a:solidFill>
          <a:ln w="25400">
            <a:solidFill>
              <a:srgbClr val="0C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3108960"/>
            <a:ext cx="365760" cy="365760"/>
          </a:xfrm>
          <a:prstGeom prst="ellipse">
            <a:avLst/>
          </a:prstGeom>
          <a:solidFill>
            <a:srgbClr val="C8A951"/>
          </a:solidFill>
          <a:ln w="25400">
            <a:solidFill>
              <a:srgbClr val="0C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108960"/>
            <a:ext cx="365760" cy="365760"/>
          </a:xfrm>
          <a:prstGeom prst="ellipse">
            <a:avLst/>
          </a:prstGeom>
          <a:solidFill>
            <a:srgbClr val="C8A951"/>
          </a:solidFill>
          <a:ln w="25400">
            <a:solidFill>
              <a:srgbClr val="0C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3108960"/>
            <a:ext cx="365760" cy="365760"/>
          </a:xfrm>
          <a:prstGeom prst="ellipse">
            <a:avLst/>
          </a:prstGeom>
          <a:solidFill>
            <a:srgbClr val="C8A951"/>
          </a:solidFill>
          <a:ln w="254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Knowledge Data Flywheel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429000" y="2011680"/>
            <a:ext cx="2286000" cy="10972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Stages of Value Creation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594360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594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53126" y="877418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53126" y="8774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11067" y="1636722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1067" y="163672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54051" y="2631199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4051" y="263119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36682" y="3545109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6682" y="354510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1472" y="4088293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1472" y="408829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86768" y="4088293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768" y="408829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41558" y="3545109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41558" y="354510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24189" y="2631199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189" y="263119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67173" y="1636722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7173" y="163672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5114" y="877418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5114" y="8774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compounds value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→ better evidence → more adoption → more data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Flywheel in Action: A Real Example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Dr. Ahmed asks: "What's the best diabetic foot management for Saudi patients?"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Evidence engine searches → Gap detected (no Saudi-specific data)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Research launched → Systematic review initiated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collected from 15 hospitals → Analysis 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Saudi guideline published in peer-reviewed journal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Clinical adoption: 500+ physicians now using the guideline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New data fed back into system → Improved evidence next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Better clinical care powered by Saudi data. The flywheel gets stronger with each cycle.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Ecosystem</a:t>
            </a:r>
            <a:endParaRPr lang="en-US" sz="6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Entities, One Knowledge Graph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generates data that feeds the central clinical intelligence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74520" cy="1005840"/>
          </a:xfrm>
          <a:prstGeom prst="rect">
            <a:avLst/>
          </a:prstGeom>
          <a:solidFill>
            <a:srgbClr val="0C2340"/>
          </a:solidFill>
          <a:ln w="25400">
            <a:solidFill>
              <a:srgbClr val="C8A9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Backbone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874520" cy="1005840"/>
          </a:xfrm>
          <a:prstGeom prst="rect">
            <a:avLst/>
          </a:prstGeom>
          <a:solidFill>
            <a:srgbClr val="00695C"/>
          </a:solidFill>
          <a:ln w="25400">
            <a:solidFill>
              <a:srgbClr val="C8A9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WARAQA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874520" cy="1005840"/>
          </a:xfrm>
          <a:prstGeom prst="rect">
            <a:avLst/>
          </a:prstGeom>
          <a:solidFill>
            <a:srgbClr val="00695C"/>
          </a:solidFill>
          <a:ln w="254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Medical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1508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RWD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143000"/>
            <a:ext cx="1874520" cy="1005840"/>
          </a:xfrm>
          <a:prstGeom prst="rect">
            <a:avLst/>
          </a:prstGeom>
          <a:solidFill>
            <a:srgbClr val="00695C"/>
          </a:solidFill>
          <a:ln w="25400">
            <a:solidFill>
              <a:srgbClr val="C8A9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Knowledge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508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08760" y="2331720"/>
            <a:ext cx="1874520" cy="1005840"/>
          </a:xfrm>
          <a:prstGeom prst="rect">
            <a:avLst/>
          </a:prstGeom>
          <a:solidFill>
            <a:srgbClr val="00695C"/>
          </a:solidFill>
          <a:ln w="25400">
            <a:solidFill>
              <a:srgbClr val="C8A9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Bio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697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Bioequivalence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2331720"/>
            <a:ext cx="1874520" cy="1005840"/>
          </a:xfrm>
          <a:prstGeom prst="rect">
            <a:avLst/>
          </a:prstGeom>
          <a:solidFill>
            <a:srgbClr val="7B1FA2"/>
          </a:solidFill>
          <a:ln w="25400">
            <a:solidFill>
              <a:srgbClr val="C8A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 Platform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1880" y="2697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Services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2331720"/>
            <a:ext cx="1874520" cy="1005840"/>
          </a:xfrm>
          <a:prstGeom prst="rect">
            <a:avLst/>
          </a:prstGeom>
          <a:solidFill>
            <a:srgbClr val="1565C0"/>
          </a:solidFill>
          <a:ln w="25400">
            <a:solidFill>
              <a:srgbClr val="C8A9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3774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RCM Company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2697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86200" y="3657600"/>
            <a:ext cx="1371600" cy="914400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27" name="Text 25"/>
          <p:cNvSpPr/>
          <p:nvPr/>
        </p:nvSpPr>
        <p:spPr>
          <a:xfrm>
            <a:off x="3886200" y="3703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SCII: The Intelligence Engine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 Search Engine (Arabic-first)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Clinical Knowledge Graph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&amp; Analytics 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/ OMOP CDM Compliance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NCA/NDMO Security Architecture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463040" cy="5029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03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657600"/>
            <a:ext cx="1463040" cy="5029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3703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1463040" cy="5029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703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WARAQA: Evidence &amp; Publishing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authoring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guideline development (Delphi method)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medical journal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PubMed/Scopus indexing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evidence gap to published guideline in 6 months, not 18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Medical: Clinical Trials &amp; RWD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CTMS (Clinical Trial Management System)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Data Capture (EDC)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registries (OMOP CDM compliant)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analytics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SFDA-compliant trial management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Knowledge: Medical Education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SCFHS-accredited training programs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BLS, ACLS, ATLS certification delivery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CME platform (live)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Competency-based assessment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 healthcare professionals trained annually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flywheel entry point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 Bio: Bioequivalence &amp; Drug Localization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Bioequivalence studies for generic drugs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 regulatory submission support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services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population PK/PD data generation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Enabling local drug manufacturing with local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 Platform: Integrative Health Services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product design, pricing, and distribution to payers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delivery coordination through provider networks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Technology-driven managed care operations (live)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patients already served through the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and outcomes data flowing into the Knowledge Graph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patient outcomes at scale — feeding the clinical evidence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RCM Company: Revenue Cycle Management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revenue cycle management for healthcare providers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 and medical coding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data analytics and denial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benchmarking across providers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and documentation data enriching the Knowledge Graph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claim tells a clinical story — transforming billing into intelligence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Partner With FASL</a:t>
            </a:r>
            <a:endParaRPr lang="en-US" sz="6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Founder's Unfair Advantage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SCFHS-accredited medical training institute (operating)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930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thousands of healthcare professionals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publishing house with peer-reviewed journals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4767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established CRO (clinical research org)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7685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platform (operational)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platform managing thousands of patients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 company with billing and coding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6440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to CHI and Hevolution Foundation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011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pitch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platform already in motion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 Today (Not on a Roadmap)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Operating: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SCFHS-accredited institute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673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professionals trained/year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9751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platform live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27685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276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publishing house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5786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578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established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8803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2880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platform (thousands of patients)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1821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 company (billing + coding)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4838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4838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advisory relationship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Now: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325880"/>
            <a:ext cx="182880" cy="1828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search engine MVP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645920"/>
            <a:ext cx="182880" cy="1828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v1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1965960"/>
            <a:ext cx="182880" cy="1828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pilot program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the Region, Not Translated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5E7EB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Serve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and medical specialists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health professionals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researchers and academics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quality and compliance teams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and managed care organizations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healthcare professionals (GCC)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Arabic-First Platform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proportion of Saudi healthcare professionals prefer clinical content in Arabic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no existing platform delivers evidence-grade Arabic clinical content at scale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FASL is Arabic-first,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Arabic-translated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Moats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297680" cy="1508760"/>
          </a:xfrm>
          <a:prstGeom prst="rect">
            <a:avLst/>
          </a:prstGeom>
          <a:solidFill>
            <a:srgbClr val="E5E7EB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Network Effects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professionals → more data → better evidence → more adoption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097280"/>
            <a:ext cx="4297680" cy="1508760"/>
          </a:xfrm>
          <a:prstGeom prst="rect">
            <a:avLst/>
          </a:prstGeom>
          <a:solidFill>
            <a:srgbClr val="E5E7EB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234440"/>
            <a:ext cx="320040" cy="320040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212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6459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 accreditation + SFDA compliance (5+ years to replicate)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297680" cy="1508760"/>
          </a:xfrm>
          <a:prstGeom prst="rect">
            <a:avLst/>
          </a:prstGeom>
          <a:solidFill>
            <a:srgbClr val="E5E7EB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into clinical workflow = costly replacement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788920"/>
            <a:ext cx="4297680" cy="1508760"/>
          </a:xfrm>
          <a:prstGeom prst="rect">
            <a:avLst/>
          </a:prstGeom>
          <a:solidFill>
            <a:srgbClr val="E5E7EB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926080"/>
            <a:ext cx="320040" cy="320040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Distribution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3375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professional network cannot be acquired or copied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Opportunities</a:t>
            </a:r>
            <a:endParaRPr lang="en-US" sz="6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Hospitals: Transform Your Clinical Intelligence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FASL Provides: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clinical decision support at point of care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CBAHI compliance support (59.6% of hospitals cite poor IT as biggest barrier)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programs for your medical staff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14016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site capability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6148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analytics from your patient population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 optimization through integrated RCM services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Model: Platform subscription + data collaboration agreement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Pharma Companies: Access Saudi Clinical Intelligence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FASL Provides: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evidence from Saudi patient populations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management (NAMA Medical)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Bioequivalence studies for generics (NAMA Bio)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14016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and healthcare professional network for KOL engagement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6148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 surveillance and pharmacovigilance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care data and patient outcomes (VAS Platform)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Model: Data licensing + CRO services + co-research opportunities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Tech Partners: Build on Saudi's Clinical Layer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FASL Provides: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clinical data access (NDMO/NCA compliant)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clinical NLP training opportunities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cloud infrastructure partnership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14016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co-development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6148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relationship and market access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Model: Technology alliance + co-development + market access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&amp; Traction</a:t>
            </a:r>
            <a:endParaRPr lang="en-US" sz="6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 &amp; Opportunity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108960" y="1188720"/>
            <a:ext cx="2926080" cy="6400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8B+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2377440" cy="6400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057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5B+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2834640"/>
            <a:ext cx="1828800" cy="6400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300M+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Rate: 12% CAGR in Saudi healthcare 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FASL Competitive Advantages: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Saudi-first data (competitors: global data)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Arabic-first platform (competitors: English only)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Integrated professional network (competitors: fragmented)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1401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Evidence + Trials + Publishing + Education + VAS + RCM (competitors: point solutions)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614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Sovereign cloud infrastructure (competitors: foreign data residency)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Regulatory alignment (competitors: non-compliant with NDMO/NCA)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Trajectory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280160" cy="1828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11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20M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3291840"/>
            <a:ext cx="128016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34290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3703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88M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3017520"/>
            <a:ext cx="1280160" cy="6400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3154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3429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300M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2651760"/>
            <a:ext cx="1280160" cy="10058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7889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3063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560M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2011680"/>
            <a:ext cx="1280160" cy="16459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1488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1.1B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breakeven: Year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 gross margin by Year 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diversified revenue streams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Strategic Mapping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circles mapped by regulatory relevance, existing relationships, and strategic timing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solidFill>
            <a:srgbClr val="E5E7EB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1 — Foundation (Now)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143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relationships and accreditations. SCFHS already accredits the institute. SFDA governs clinical trials (NAMA Medical). SNIH and RDIA align with research and data mandates.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914400" cy="411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0" y="1554480"/>
            <a:ext cx="914400" cy="411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1554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554480"/>
            <a:ext cx="914400" cy="411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554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1554480"/>
            <a:ext cx="914400" cy="411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554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8412480" cy="1051560"/>
          </a:xfrm>
          <a:prstGeom prst="rect">
            <a:avLst/>
          </a:prstGeom>
          <a:solidFill>
            <a:srgbClr val="E5E7EB"/>
          </a:solidFill>
          <a:ln w="25400">
            <a:solidFill>
              <a:srgbClr val="C8A9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2 — Growth (6–18 mo)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331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after platform traction. MOH for national scale, CHI for digital health alignment, CBAHI for hospital quality data, SDL and SPSC for workforce development.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777240" cy="4114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7432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17320" y="2743200"/>
            <a:ext cx="777240" cy="4114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27432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2743200"/>
            <a:ext cx="777240" cy="4114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27432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CBAHI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743200"/>
            <a:ext cx="777240" cy="4114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27432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23360" y="2743200"/>
            <a:ext cx="777240" cy="4114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27432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NCEBM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2743200"/>
            <a:ext cx="777240" cy="41148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7432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8412480" cy="1051560"/>
          </a:xfrm>
          <a:prstGeom prst="rect">
            <a:avLst/>
          </a:prstGeom>
          <a:solidFill>
            <a:srgbClr val="E5E7EB"/>
          </a:solidFill>
          <a:ln w="25400">
            <a:solidFill>
              <a:srgbClr val="0C2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3 — Scale (18–36 mo)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17520" y="3520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phase. CNHI for national health data exchange, NHIC for insurance data integration, HRDF for workforce localization and Saudization alignment.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9144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31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00200" y="3931920"/>
            <a:ext cx="9144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0200" y="3931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51760" y="3931920"/>
            <a:ext cx="9144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3931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Identified These Partners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00400"/>
          </a:xfrm>
          <a:prstGeom prst="rect">
            <a:avLst/>
          </a:prstGeom>
          <a:solidFill>
            <a:srgbClr val="E5E7EB"/>
          </a:solidFill>
          <a:ln w="38100">
            <a:solidFill>
              <a:srgbClr val="0069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Relevance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was selected because its mandate directly intersects with at least one FASL capability — accreditation, trials, data governance, or workforce development.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3200400"/>
          </a:xfrm>
          <a:prstGeom prst="rect">
            <a:avLst/>
          </a:prstGeom>
          <a:solidFill>
            <a:srgbClr val="E5E7EB"/>
          </a:solidFill>
          <a:ln w="38100">
            <a:solidFill>
              <a:srgbClr val="C8A9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50292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Relationships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7830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entities are where the founder already has active accreditations, advisory roles, or operational compliance. These are not cold outreach — they are warm entries.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3200400"/>
          </a:xfrm>
          <a:prstGeom prst="rect">
            <a:avLst/>
          </a:prstGeom>
          <a:solidFill>
            <a:srgbClr val="E5E7EB"/>
          </a:solidFill>
          <a:ln w="38100">
            <a:solidFill>
              <a:srgbClr val="0C23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51760" cy="5029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Sequencing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waves depend on platform traction from earlier ones. Hospital data from Wave 1 partnerships makes the MOH and CBAHI conversations in Wave 2 evidence-backed, not conceptual.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6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Models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E5E7EB"/>
          </a:solidFill>
          <a:ln w="381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months, limited scope, proof of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560320" cy="3474720"/>
          </a:xfrm>
          <a:prstGeom prst="rect">
            <a:avLst/>
          </a:prstGeom>
          <a:solidFill>
            <a:srgbClr val="E5E7EB"/>
          </a:solidFill>
          <a:ln w="38100">
            <a:solidFill>
              <a:srgbClr val="006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97280"/>
            <a:ext cx="256032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partnership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months, data sharing, co-development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560320" cy="3474720"/>
          </a:xfrm>
          <a:prstGeom prst="rect">
            <a:avLst/>
          </a:prstGeom>
          <a:solidFill>
            <a:srgbClr val="E5E7EB"/>
          </a:solidFill>
          <a:ln w="38100">
            <a:solidFill>
              <a:srgbClr val="0C23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alliance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103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Multi-year, deep integration, shared 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platform demonstration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pilot scope and success criteria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C8A95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pilot program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93192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partner? Let's talk. Contact: theeb@theeb.studio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2035, every clinical decision in Saudi Arabia will be informed by locally generated, AI-powered evidence.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FASL is building the infrastructure to make this happen.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us.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Supporting Detail</a:t>
            </a:r>
            <a:endParaRPr lang="en-US" sz="4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Technology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(Fast Healthcare Interoperability Resources)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OMOP CDM (Observational Medical Outcomes Partnership Common Data Model)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04672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Architecture (Neo4j-compatible)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Clinical NLP &amp; LLM Integration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Cloud Infrastructure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NCA/NDMO Compliance &amp; Security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Regulatory Compliance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234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10896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691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148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0896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06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089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063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10896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3520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10896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8 Revenue Streams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Evidence Platform Licensing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per hospital/pharma company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361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Clinical Trial Services (NAMA Medical)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536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Per-trial CRO fees (CTMS, EDC, analysis)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8229600" cy="411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751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Bioequivalence Studies (NAMA Bio)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97510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Per-study fees for BE testing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140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Medical Education &amp; CME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4140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Per-professional annual fees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8229600" cy="411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529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Licensing &amp; Analytics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8529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RWD licensing to pharma/research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Publishing &amp; Guideline Services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fees, sponsorship 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8229600" cy="411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30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Value-Added Services (VAS Platform)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37307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fees + managed care margin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69664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696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Revenue Cycle Management (RCM)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416966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collections + consulting fees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Team &amp; Governance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Leadership Roles: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direction, government relations, professional network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93192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Medical Officer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strategy, evidence standards, physician engagement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93192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development, data architecture, AI/ML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393192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partnerships, legal/compliance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393192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fundraising, investor relations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Deck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2026-03-06T16:45:21Z</dcterms:created>
  <dcterms:modified xsi:type="dcterms:W3CDTF">2026-03-06T16:45:21Z</dcterms:modified>
</cp:coreProperties>
</file>