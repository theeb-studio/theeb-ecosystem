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67" r:id="rId4"/>
    <p:sldId id="257" r:id="rId5"/>
    <p:sldId id="274" r:id="rId6"/>
    <p:sldId id="273" r:id="rId7"/>
    <p:sldId id="276" r:id="rId8"/>
    <p:sldId id="277" r:id="rId9"/>
    <p:sldId id="278" r:id="rId10"/>
    <p:sldId id="270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0A7"/>
    <a:srgbClr val="9764FF"/>
    <a:srgbClr val="3757F8"/>
    <a:srgbClr val="6B24FF"/>
    <a:srgbClr val="082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7"/>
    <p:restoredTop sz="96197"/>
  </p:normalViewPr>
  <p:slideViewPr>
    <p:cSldViewPr snapToGrid="0">
      <p:cViewPr varScale="1">
        <p:scale>
          <a:sx n="121" d="100"/>
          <a:sy n="121" d="100"/>
        </p:scale>
        <p:origin x="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401A-E351-1629-E8D4-4B2EEC6DA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87CB8-6470-1B97-E98B-048807633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1D405-DE0B-8B28-4F4D-9C52FD55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BE0E-5DC6-ADC7-9242-C8BD62BD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AF2EE-B5CB-96BB-154A-D27A788F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667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F47B-A0A2-CE06-AD62-AA681FB3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06B4-C67B-8631-B2AF-4941BF5F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2F281-6D3C-59DF-9DFB-E5562029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5FBD7-FFDE-C620-6D47-D0518522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5781A-D531-E306-8899-F5B2A8FD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77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BCCE-3992-D36E-11C4-1B44878AD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C53DF-41A3-C1EF-8A05-61AEAFBD6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B4D5F-8CF5-9917-1DA7-6C41E8B9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ABB24-AC58-3F4F-3C74-98B05FB0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05F1D-E1BE-DD81-7D1C-85A95F8E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609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21B8-EB5F-A73D-876A-1BEBBBF2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DA3AF-7248-273A-484A-2A82A6EF3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00C8A-7507-B471-C7C3-16E58E01D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8B15B-635B-B5CC-C26C-33B8DE0F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E03E5-4523-6B9E-2FB8-13044192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78B10-6621-A9AE-8974-7D7269E1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922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5A81-B3B7-3C02-381D-C34FB7BF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51FB4-1906-FEEB-A455-2DFD5DDDE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755E7-F870-C74F-D7B0-5C52131F6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D18A4-7ABF-5EC1-2152-CE5129C03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E9107-845A-2F66-A635-1ECDD9235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546338-941F-AB3B-720E-78A0E87B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C9830-DF75-6F4A-2398-CD174EF6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8235E-2405-43F6-3F7E-19E573DA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945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B4C4-FE7A-52E3-0482-65DEE609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9410C-CCAB-668C-80F8-5071CA0A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D02BD-815C-6C7C-94E7-436AF971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F3382-9172-0AE4-5011-9AE7E790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795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F4AA6-A1EF-E33C-7ECD-B86A592E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4B647-2821-94B0-CD6E-3BA83CF0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23A8A-3C41-ED5F-6297-8CA64C5A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103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71CB-4AB8-8DB3-EE7D-1AC86A03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AF10-FD2B-1EB2-3522-7AA3EB41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E2CB7-54FA-7FD8-8C23-9AE0BB4C4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CDCDF-BCE8-6509-FFE5-17DD69AA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CBFC2-2F89-E394-3FF9-FDFFBB90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61DC-7809-BA80-E99B-83299D50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733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AC9D-36FB-5375-978F-4EF14304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174B6-E4C0-3770-100A-9F4C5FD28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F849F-A5A6-6495-AE5A-3321C9A8D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66253-B5FC-B6A1-C61D-083FFECD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6CB25-ED91-2500-B83D-678C02C5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A0838-2282-0111-1D39-34B8067B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9535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2A7C-7D25-EEC5-17F6-D9410792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C7B90-6F5C-C591-4830-C00641895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AC678-0F2D-511F-ED48-C2A91451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A6651-2C8B-EC46-3F57-5BA78DB5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39296-652B-6C0D-2B32-096B23E7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501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11BB9-85C3-77BA-89B1-E74BD4DC6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F5E4A-9435-3868-F4ED-0F436606B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06E71-E411-96C7-3275-5D0BFBF7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FD458-0963-790E-AA87-8662FD7B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B1F38-0988-812F-7BC2-A1FFD10A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872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7F6D6-32C6-1727-7817-AF4EBE54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E30E-B054-72E8-4993-AF204814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0FF6-9BAB-36ED-40D0-88D398B1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728C7-9531-0D49-BF64-2EB9D6EC9072}" type="datetimeFigureOut">
              <a:rPr lang="en-PK" smtClean="0"/>
              <a:t>3/3/25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AC70A-1F21-1AFC-0DF9-4F4A30516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853E3-DEB1-FE01-10B0-8E21C7177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D02C0-378B-0043-8F07-3A4833A78B3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753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58CCEF-D407-B16C-DD4F-15C3DBE2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33B707-397C-85E0-78B5-48592736DFB0}"/>
              </a:ext>
            </a:extLst>
          </p:cNvPr>
          <p:cNvSpPr txBox="1"/>
          <p:nvPr/>
        </p:nvSpPr>
        <p:spPr>
          <a:xfrm>
            <a:off x="765754" y="6018361"/>
            <a:ext cx="2819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200" dirty="0">
                <a:solidFill>
                  <a:schemeClr val="bg1"/>
                </a:solidFill>
                <a:latin typeface="Proxima Nova Rg" panose="02000506030000020004" pitchFamily="2" charset="77"/>
              </a:rPr>
              <a:t>www.digipharm.io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D34D19-F907-EFA8-1CF5-ECD5CC0201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47"/>
          <a:stretch/>
        </p:blipFill>
        <p:spPr>
          <a:xfrm rot="13932724">
            <a:off x="8019366" y="1118691"/>
            <a:ext cx="5433876" cy="6865306"/>
          </a:xfrm>
          <a:custGeom>
            <a:avLst/>
            <a:gdLst>
              <a:gd name="connsiteX0" fmla="*/ 4354286 w 4354286"/>
              <a:gd name="connsiteY0" fmla="*/ 5501323 h 5501323"/>
              <a:gd name="connsiteX1" fmla="*/ 3811715 w 4354286"/>
              <a:gd name="connsiteY1" fmla="*/ 5501323 h 5501323"/>
              <a:gd name="connsiteX2" fmla="*/ 0 w 4354286"/>
              <a:gd name="connsiteY2" fmla="*/ 2545939 h 5501323"/>
              <a:gd name="connsiteX3" fmla="*/ 1973975 w 4354286"/>
              <a:gd name="connsiteY3" fmla="*/ 0 h 5501323"/>
              <a:gd name="connsiteX4" fmla="*/ 4354286 w 4354286"/>
              <a:gd name="connsiteY4" fmla="*/ 0 h 550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4286" h="5501323">
                <a:moveTo>
                  <a:pt x="4354286" y="5501323"/>
                </a:moveTo>
                <a:lnTo>
                  <a:pt x="3811715" y="5501323"/>
                </a:lnTo>
                <a:lnTo>
                  <a:pt x="0" y="2545939"/>
                </a:lnTo>
                <a:lnTo>
                  <a:pt x="1973975" y="0"/>
                </a:lnTo>
                <a:lnTo>
                  <a:pt x="4354286" y="0"/>
                </a:lnTo>
                <a:close/>
              </a:path>
            </a:pathLst>
          </a:cu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289B33-DD4B-B01A-5E6F-2099CD379775}"/>
              </a:ext>
            </a:extLst>
          </p:cNvPr>
          <p:cNvSpPr txBox="1"/>
          <p:nvPr/>
        </p:nvSpPr>
        <p:spPr>
          <a:xfrm>
            <a:off x="765754" y="3554361"/>
            <a:ext cx="5738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spc="120" dirty="0">
                <a:solidFill>
                  <a:srgbClr val="FFFFFF"/>
                </a:solidFill>
                <a:latin typeface="FSP DEMO - Proxima Nova" panose="02000506030000020004" pitchFamily="2" charset="0"/>
                <a:cs typeface="Verdana"/>
              </a:rPr>
              <a:t>Smart Procurement: An Example Process of Achieving Best Value In Oncology</a:t>
            </a:r>
            <a:endParaRPr lang="en-GB" sz="2000" dirty="0">
              <a:latin typeface="FSP DEMO - Proxima Nova" panose="02000506030000020004" pitchFamily="2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0791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9289CD-9B04-D24A-1549-1D0E34FC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0960"/>
            <a:ext cx="12192000" cy="42570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556F6-56C7-B848-9BBF-348179F75EDD}"/>
              </a:ext>
            </a:extLst>
          </p:cNvPr>
          <p:cNvSpPr txBox="1"/>
          <p:nvPr/>
        </p:nvSpPr>
        <p:spPr>
          <a:xfrm>
            <a:off x="720876" y="4832395"/>
            <a:ext cx="1978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15-70% oncology ORR rates (JAMA)  </a:t>
            </a:r>
          </a:p>
          <a:p>
            <a:endParaRPr lang="en-PK" dirty="0">
              <a:solidFill>
                <a:schemeClr val="bg1"/>
              </a:solidFill>
              <a:latin typeface="FSP DEMO - Proxima Nova" panose="0200050603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B6ECB-D10B-306F-65AA-2EC9A255AB88}"/>
              </a:ext>
            </a:extLst>
          </p:cNvPr>
          <p:cNvSpPr txBox="1"/>
          <p:nvPr/>
        </p:nvSpPr>
        <p:spPr>
          <a:xfrm>
            <a:off x="4848032" y="3641762"/>
            <a:ext cx="228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Drain on Budgets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C61FC-E7C9-F3AD-F6F2-83FD8E8D5458}"/>
              </a:ext>
            </a:extLst>
          </p:cNvPr>
          <p:cNvSpPr txBox="1"/>
          <p:nvPr/>
        </p:nvSpPr>
        <p:spPr>
          <a:xfrm>
            <a:off x="4848032" y="4832395"/>
            <a:ext cx="397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Volume-based payments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7C9A7-6529-7274-75AF-8BC4B387D8F7}"/>
              </a:ext>
            </a:extLst>
          </p:cNvPr>
          <p:cNvSpPr txBox="1"/>
          <p:nvPr/>
        </p:nvSpPr>
        <p:spPr>
          <a:xfrm>
            <a:off x="720875" y="3641762"/>
            <a:ext cx="268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High costs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3A4681-8005-5E19-2461-837FB2C5158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4962332" y="3247129"/>
            <a:ext cx="297910" cy="2979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D908A0-5385-4317-282C-DF34F580235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35175" y="3185717"/>
            <a:ext cx="359322" cy="3593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C674DC-F2E0-339C-F209-B60EE65E6AD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35175" y="4355882"/>
            <a:ext cx="297910" cy="351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2B168A-1991-25B0-3177-DA7C37D9F03A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4962332" y="4419135"/>
            <a:ext cx="254876" cy="2879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C697B3-91F8-D939-2D2E-FFA63C9B239F}"/>
              </a:ext>
            </a:extLst>
          </p:cNvPr>
          <p:cNvSpPr txBox="1"/>
          <p:nvPr/>
        </p:nvSpPr>
        <p:spPr>
          <a:xfrm>
            <a:off x="591554" y="6164313"/>
            <a:ext cx="147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200" dirty="0">
                <a:solidFill>
                  <a:schemeClr val="bg1">
                    <a:lumMod val="85000"/>
                  </a:schemeClr>
                </a:solidFill>
                <a:latin typeface="Proxima Nova Rg" panose="02000506030000020004" pitchFamily="2" charset="77"/>
              </a:rPr>
              <a:t>www.digipharm.io</a:t>
            </a:r>
          </a:p>
          <a:p>
            <a:endParaRPr lang="en-PK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D34D19-F907-EFA8-1CF5-ECD5CC02017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447"/>
          <a:stretch/>
        </p:blipFill>
        <p:spPr>
          <a:xfrm rot="13932724">
            <a:off x="9330128" y="2932929"/>
            <a:ext cx="3714295" cy="4692741"/>
          </a:xfrm>
          <a:custGeom>
            <a:avLst/>
            <a:gdLst>
              <a:gd name="connsiteX0" fmla="*/ 4354286 w 4354286"/>
              <a:gd name="connsiteY0" fmla="*/ 5501323 h 5501323"/>
              <a:gd name="connsiteX1" fmla="*/ 3811715 w 4354286"/>
              <a:gd name="connsiteY1" fmla="*/ 5501323 h 5501323"/>
              <a:gd name="connsiteX2" fmla="*/ 0 w 4354286"/>
              <a:gd name="connsiteY2" fmla="*/ 2545939 h 5501323"/>
              <a:gd name="connsiteX3" fmla="*/ 1973975 w 4354286"/>
              <a:gd name="connsiteY3" fmla="*/ 0 h 5501323"/>
              <a:gd name="connsiteX4" fmla="*/ 4354286 w 4354286"/>
              <a:gd name="connsiteY4" fmla="*/ 0 h 550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4286" h="5501323">
                <a:moveTo>
                  <a:pt x="4354286" y="5501323"/>
                </a:moveTo>
                <a:lnTo>
                  <a:pt x="3811715" y="5501323"/>
                </a:lnTo>
                <a:lnTo>
                  <a:pt x="0" y="2545939"/>
                </a:lnTo>
                <a:lnTo>
                  <a:pt x="1973975" y="0"/>
                </a:lnTo>
                <a:lnTo>
                  <a:pt x="4354286" y="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567C0D-E076-9D09-89CA-5C8606037CA0}"/>
              </a:ext>
            </a:extLst>
          </p:cNvPr>
          <p:cNvSpPr txBox="1"/>
          <p:nvPr/>
        </p:nvSpPr>
        <p:spPr>
          <a:xfrm>
            <a:off x="115219" y="167291"/>
            <a:ext cx="3190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1.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Identification.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F0082-5E7E-0FD4-E9D5-7FFAF8A725B4}"/>
              </a:ext>
            </a:extLst>
          </p:cNvPr>
          <p:cNvSpPr txBox="1"/>
          <p:nvPr/>
        </p:nvSpPr>
        <p:spPr>
          <a:xfrm>
            <a:off x="4848032" y="316090"/>
            <a:ext cx="4949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Healthcare provider identifies a certain treatment could save lives and improve patient outcomes, but they face a daunting financial hurdle. The cost of this innovative therapy puts it out of reach or results in considerable losses when it does not benefit patients as expected.</a:t>
            </a:r>
            <a:endParaRPr lang="en-PK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5227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A298BB-8F7C-ABDE-9B73-2A927EE3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056" y="0"/>
            <a:ext cx="756194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556F6-56C7-B848-9BBF-348179F75EDD}"/>
              </a:ext>
            </a:extLst>
          </p:cNvPr>
          <p:cNvSpPr txBox="1"/>
          <p:nvPr/>
        </p:nvSpPr>
        <p:spPr>
          <a:xfrm>
            <a:off x="5968160" y="3393593"/>
            <a:ext cx="22281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Protect budgets</a:t>
            </a:r>
          </a:p>
          <a:p>
            <a:endParaRPr lang="en-PK" sz="1400" dirty="0">
              <a:solidFill>
                <a:schemeClr val="bg1"/>
              </a:solidFill>
              <a:latin typeface="FSP DEMO - Proxima Nova" panose="0200050603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54085-EA47-64EE-B665-C3FFA07DC3EC}"/>
              </a:ext>
            </a:extLst>
          </p:cNvPr>
          <p:cNvSpPr txBox="1"/>
          <p:nvPr/>
        </p:nvSpPr>
        <p:spPr>
          <a:xfrm>
            <a:off x="5968160" y="1516007"/>
            <a:ext cx="222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Fair costs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C61FC-E7C9-F3AD-F6F2-83FD8E8D5458}"/>
              </a:ext>
            </a:extLst>
          </p:cNvPr>
          <p:cNvSpPr txBox="1"/>
          <p:nvPr/>
        </p:nvSpPr>
        <p:spPr>
          <a:xfrm>
            <a:off x="8548150" y="1516007"/>
            <a:ext cx="2902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Value-based payments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557E8B-89DE-C912-4FB5-AECDEAF7F87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6091248" y="2990625"/>
            <a:ext cx="247650" cy="304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0EB0B8-693B-836C-C5CD-65B913E874C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671239" y="1080709"/>
            <a:ext cx="359322" cy="351337"/>
          </a:xfrm>
          <a:prstGeom prst="rect">
            <a:avLst/>
          </a:prstGeom>
        </p:spPr>
      </p:pic>
      <p:pic>
        <p:nvPicPr>
          <p:cNvPr id="22" name="Picture 21" descr="Astronaut female outline">
            <a:extLst>
              <a:ext uri="{FF2B5EF4-FFF2-40B4-BE49-F238E27FC236}">
                <a16:creationId xmlns:a16="http://schemas.microsoft.com/office/drawing/2014/main" id="{99D908A0-5385-4317-282C-DF34F580235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671239" y="2945209"/>
            <a:ext cx="395632" cy="3956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618EC2-D8F3-F8B1-7D14-6306635E617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6091248" y="1080793"/>
            <a:ext cx="297910" cy="3511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238A2F-DD3F-779B-F3CB-E41EC1FCA200}"/>
              </a:ext>
            </a:extLst>
          </p:cNvPr>
          <p:cNvSpPr txBox="1"/>
          <p:nvPr/>
        </p:nvSpPr>
        <p:spPr>
          <a:xfrm>
            <a:off x="8548151" y="3393593"/>
            <a:ext cx="30342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Transform Procurement</a:t>
            </a:r>
          </a:p>
          <a:p>
            <a:endParaRPr lang="en-PK" sz="1400" dirty="0">
              <a:solidFill>
                <a:schemeClr val="bg1"/>
              </a:solidFill>
              <a:latin typeface="FSP DEMO - Proxima Nova" panose="0200050603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F9CAF-64C4-E87B-7F75-010B0EE6F012}"/>
              </a:ext>
            </a:extLst>
          </p:cNvPr>
          <p:cNvSpPr txBox="1"/>
          <p:nvPr/>
        </p:nvSpPr>
        <p:spPr>
          <a:xfrm>
            <a:off x="564252" y="2331521"/>
            <a:ext cx="37319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With the support of our independent third party solution, the provider launches a value-based procurement (VBP) initiative to ensure patients receive the life-saving treatments they desperately need whilst protecting procurement budgets.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007E5E-5B37-787E-CA94-04D81EDBC689}"/>
              </a:ext>
            </a:extLst>
          </p:cNvPr>
          <p:cNvSpPr txBox="1"/>
          <p:nvPr/>
        </p:nvSpPr>
        <p:spPr>
          <a:xfrm>
            <a:off x="564253" y="6164313"/>
            <a:ext cx="147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200" dirty="0">
                <a:solidFill>
                  <a:schemeClr val="bg1">
                    <a:lumMod val="85000"/>
                  </a:schemeClr>
                </a:solidFill>
                <a:latin typeface="Proxima Nova Rg" panose="02000506030000020004" pitchFamily="2" charset="77"/>
              </a:rPr>
              <a:t>www.digipharm.io</a:t>
            </a:r>
          </a:p>
          <a:p>
            <a:endParaRPr lang="en-PK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F83A7-D86A-2255-4E60-4A807287DC51}"/>
              </a:ext>
            </a:extLst>
          </p:cNvPr>
          <p:cNvSpPr txBox="1"/>
          <p:nvPr/>
        </p:nvSpPr>
        <p:spPr>
          <a:xfrm>
            <a:off x="56885" y="131012"/>
            <a:ext cx="4239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2.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Partner with us.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22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59289CD-9B04-D24A-1549-1D0E34FC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716" y="0"/>
            <a:ext cx="752328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556F6-56C7-B848-9BBF-348179F75EDD}"/>
              </a:ext>
            </a:extLst>
          </p:cNvPr>
          <p:cNvSpPr txBox="1"/>
          <p:nvPr/>
        </p:nvSpPr>
        <p:spPr>
          <a:xfrm>
            <a:off x="5466285" y="1091463"/>
            <a:ext cx="3021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Dedicated independent system for monitoring and managing VBP initiatives</a:t>
            </a:r>
          </a:p>
          <a:p>
            <a:endParaRPr lang="en-PK" sz="2000" dirty="0">
              <a:solidFill>
                <a:schemeClr val="bg1"/>
              </a:solidFill>
              <a:latin typeface="FSP DEMO - Proxima Nova" panose="0200050603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54085-EA47-64EE-B665-C3FFA07DC3EC}"/>
              </a:ext>
            </a:extLst>
          </p:cNvPr>
          <p:cNvSpPr txBox="1"/>
          <p:nvPr/>
        </p:nvSpPr>
        <p:spPr>
          <a:xfrm>
            <a:off x="5466284" y="2971246"/>
            <a:ext cx="2864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Provides </a:t>
            </a:r>
            <a:r>
              <a:rPr lang="en-US" sz="2000" dirty="0" err="1">
                <a:solidFill>
                  <a:schemeClr val="bg1"/>
                </a:solidFill>
                <a:latin typeface="FSP DEMO - Proxima Nova" panose="02000506030000020004" pitchFamily="2" charset="0"/>
              </a:rPr>
              <a:t>synchronised</a:t>
            </a: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 data viewpoints and outcome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B6ECB-D10B-306F-65AA-2EC9A255AB88}"/>
              </a:ext>
            </a:extLst>
          </p:cNvPr>
          <p:cNvSpPr txBox="1"/>
          <p:nvPr/>
        </p:nvSpPr>
        <p:spPr>
          <a:xfrm>
            <a:off x="5466284" y="5148650"/>
            <a:ext cx="2937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Enables a win-win scenario for all parties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C61FC-E7C9-F3AD-F6F2-83FD8E8D5458}"/>
              </a:ext>
            </a:extLst>
          </p:cNvPr>
          <p:cNvSpPr txBox="1"/>
          <p:nvPr/>
        </p:nvSpPr>
        <p:spPr>
          <a:xfrm>
            <a:off x="8671941" y="1091463"/>
            <a:ext cx="3122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Eliminate requirement for ‘trust’ </a:t>
            </a:r>
            <a:r>
              <a:rPr lang="en-US" sz="2000" b="1" dirty="0">
                <a:solidFill>
                  <a:schemeClr val="bg1"/>
                </a:solidFill>
                <a:latin typeface="Effra Light" panose="020B0403020203020204" pitchFamily="34" charset="0"/>
                <a:cs typeface="Effra Light" panose="020B0403020203020204" pitchFamily="34" charset="0"/>
              </a:rPr>
              <a:t>&amp;</a:t>
            </a: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 aligns incentives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7C9A7-6529-7274-75AF-8BC4B387D8F7}"/>
              </a:ext>
            </a:extLst>
          </p:cNvPr>
          <p:cNvSpPr txBox="1"/>
          <p:nvPr/>
        </p:nvSpPr>
        <p:spPr>
          <a:xfrm>
            <a:off x="8671940" y="2998533"/>
            <a:ext cx="3122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Relieves administrative burden for 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15F1C-CA33-BE7B-7540-09492E07848D}"/>
              </a:ext>
            </a:extLst>
          </p:cNvPr>
          <p:cNvSpPr txBox="1"/>
          <p:nvPr/>
        </p:nvSpPr>
        <p:spPr>
          <a:xfrm>
            <a:off x="8671940" y="5100906"/>
            <a:ext cx="2937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Allows VBP at scale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557E8B-89DE-C912-4FB5-AECDEAF7F87F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5549584" y="497749"/>
            <a:ext cx="247650" cy="30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4BBEE8-1164-4BD1-BE58-54471DAA927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5574944" y="2529932"/>
            <a:ext cx="254876" cy="2879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3A4681-8005-5E19-2461-837FB2C51580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5531910" y="4541014"/>
            <a:ext cx="297910" cy="2979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0EB0B8-693B-836C-C5CD-65B913E874CE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8713000" y="451212"/>
            <a:ext cx="359322" cy="3513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D908A0-5385-4317-282C-DF34F580235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831249" y="2533218"/>
            <a:ext cx="359322" cy="3593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618EC2-D8F3-F8B1-7D14-6306635E617E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831249" y="4482523"/>
            <a:ext cx="297910" cy="3511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2C697B3-91F8-D939-2D2E-FFA63C9B239F}"/>
              </a:ext>
            </a:extLst>
          </p:cNvPr>
          <p:cNvSpPr txBox="1"/>
          <p:nvPr/>
        </p:nvSpPr>
        <p:spPr>
          <a:xfrm>
            <a:off x="720876" y="6164313"/>
            <a:ext cx="147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200" dirty="0">
                <a:solidFill>
                  <a:schemeClr val="bg1">
                    <a:lumMod val="85000"/>
                  </a:schemeClr>
                </a:solidFill>
                <a:latin typeface="Proxima Nova Rg" panose="02000506030000020004" pitchFamily="2" charset="77"/>
              </a:rPr>
              <a:t>www.digipharm.io</a:t>
            </a:r>
          </a:p>
          <a:p>
            <a:endParaRPr lang="en-PK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23339-E45E-0F83-82AD-CCC850DB9C5D}"/>
              </a:ext>
            </a:extLst>
          </p:cNvPr>
          <p:cNvSpPr txBox="1"/>
          <p:nvPr/>
        </p:nvSpPr>
        <p:spPr>
          <a:xfrm>
            <a:off x="397645" y="255886"/>
            <a:ext cx="39276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3.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Engage with manufacturer.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804D2-1EB3-5BC1-A831-3D60255979CF}"/>
              </a:ext>
            </a:extLst>
          </p:cNvPr>
          <p:cNvSpPr txBox="1"/>
          <p:nvPr/>
        </p:nvSpPr>
        <p:spPr>
          <a:xfrm>
            <a:off x="558456" y="2555744"/>
            <a:ext cx="35276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We support procurement negotiation between key stakeholders with its expertise in implementing and deploying value-based procurement models.</a:t>
            </a:r>
            <a:endParaRPr lang="en-PK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9959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59289CD-9B04-D24A-1549-1D0E34FC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716" y="0"/>
            <a:ext cx="752328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556F6-56C7-B848-9BBF-348179F75EDD}"/>
              </a:ext>
            </a:extLst>
          </p:cNvPr>
          <p:cNvSpPr txBox="1"/>
          <p:nvPr/>
        </p:nvSpPr>
        <p:spPr>
          <a:xfrm>
            <a:off x="5466285" y="1091463"/>
            <a:ext cx="3021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Efficacy thresholds: e.g. Survival, Progression, Remission, PROMs</a:t>
            </a:r>
          </a:p>
          <a:p>
            <a:endParaRPr lang="en-PK" sz="2000" dirty="0">
              <a:solidFill>
                <a:schemeClr val="bg1"/>
              </a:solidFill>
              <a:latin typeface="FSP DEMO - Proxima Nova" panose="0200050603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54085-EA47-64EE-B665-C3FFA07DC3EC}"/>
              </a:ext>
            </a:extLst>
          </p:cNvPr>
          <p:cNvSpPr txBox="1"/>
          <p:nvPr/>
        </p:nvSpPr>
        <p:spPr>
          <a:xfrm>
            <a:off x="5466284" y="2971246"/>
            <a:ext cx="30215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Milestones: Parties define criteria relating to data reporting, reconciliation, contract periodicity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B6ECB-D10B-306F-65AA-2EC9A255AB88}"/>
              </a:ext>
            </a:extLst>
          </p:cNvPr>
          <p:cNvSpPr txBox="1"/>
          <p:nvPr/>
        </p:nvSpPr>
        <p:spPr>
          <a:xfrm>
            <a:off x="5466284" y="5148650"/>
            <a:ext cx="2937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Agree a win-win scenario for all parties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C61FC-E7C9-F3AD-F6F2-83FD8E8D5458}"/>
              </a:ext>
            </a:extLst>
          </p:cNvPr>
          <p:cNvSpPr txBox="1"/>
          <p:nvPr/>
        </p:nvSpPr>
        <p:spPr>
          <a:xfrm>
            <a:off x="8671941" y="1091463"/>
            <a:ext cx="3122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Discontinuation: e.g. Grade 3+ AEs &amp; Intolerance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7C9A7-6529-7274-75AF-8BC4B387D8F7}"/>
              </a:ext>
            </a:extLst>
          </p:cNvPr>
          <p:cNvSpPr txBox="1"/>
          <p:nvPr/>
        </p:nvSpPr>
        <p:spPr>
          <a:xfrm>
            <a:off x="8671940" y="2998533"/>
            <a:ext cx="3122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Financials: Acquisition costs &amp; Compensation e.g. replacement vials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15F1C-CA33-BE7B-7540-09492E07848D}"/>
              </a:ext>
            </a:extLst>
          </p:cNvPr>
          <p:cNvSpPr txBox="1"/>
          <p:nvPr/>
        </p:nvSpPr>
        <p:spPr>
          <a:xfrm>
            <a:off x="8671940" y="5100906"/>
            <a:ext cx="2937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FSP DEMO - Proxima Nova" panose="02000506030000020004" pitchFamily="2" charset="0"/>
              </a:rPr>
              <a:t>Define a suitable framework that combines volume discounts with value-based conditions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3A4681-8005-5E19-2461-837FB2C5158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5531910" y="4541014"/>
            <a:ext cx="297910" cy="2979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D908A0-5385-4317-282C-DF34F580235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831249" y="2533218"/>
            <a:ext cx="359322" cy="3593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618EC2-D8F3-F8B1-7D14-6306635E617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831249" y="4482523"/>
            <a:ext cx="297910" cy="3511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2C697B3-91F8-D939-2D2E-FFA63C9B239F}"/>
              </a:ext>
            </a:extLst>
          </p:cNvPr>
          <p:cNvSpPr txBox="1"/>
          <p:nvPr/>
        </p:nvSpPr>
        <p:spPr>
          <a:xfrm>
            <a:off x="720876" y="6164313"/>
            <a:ext cx="147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200" dirty="0">
                <a:solidFill>
                  <a:schemeClr val="bg1">
                    <a:lumMod val="85000"/>
                  </a:schemeClr>
                </a:solidFill>
                <a:latin typeface="Proxima Nova Rg" panose="02000506030000020004" pitchFamily="2" charset="77"/>
              </a:rPr>
              <a:t>www.digipharm.io</a:t>
            </a:r>
          </a:p>
          <a:p>
            <a:endParaRPr lang="en-PK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23339-E45E-0F83-82AD-CCC850DB9C5D}"/>
              </a:ext>
            </a:extLst>
          </p:cNvPr>
          <p:cNvSpPr txBox="1"/>
          <p:nvPr/>
        </p:nvSpPr>
        <p:spPr>
          <a:xfrm>
            <a:off x="397645" y="255886"/>
            <a:ext cx="39276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4.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Define VBP contract criteria.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804D2-1EB3-5BC1-A831-3D60255979CF}"/>
              </a:ext>
            </a:extLst>
          </p:cNvPr>
          <p:cNvSpPr txBox="1"/>
          <p:nvPr/>
        </p:nvSpPr>
        <p:spPr>
          <a:xfrm>
            <a:off x="558456" y="2555744"/>
            <a:ext cx="35926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Contracting parties define the key Outcomes/KPI’s and reporting requirements that will inform the basis of the VBP agreement. </a:t>
            </a:r>
            <a:endParaRPr lang="en-PK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  <p:pic>
        <p:nvPicPr>
          <p:cNvPr id="11" name="Graphic 10" descr="Heart with pulse outline">
            <a:extLst>
              <a:ext uri="{FF2B5EF4-FFF2-40B4-BE49-F238E27FC236}">
                <a16:creationId xmlns:a16="http://schemas.microsoft.com/office/drawing/2014/main" id="{FEF2ED54-F527-5449-CECE-82E7673505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2960" y="451212"/>
            <a:ext cx="485900" cy="485900"/>
          </a:xfrm>
          <a:prstGeom prst="rect">
            <a:avLst/>
          </a:prstGeom>
        </p:spPr>
      </p:pic>
      <p:pic>
        <p:nvPicPr>
          <p:cNvPr id="13" name="Graphic 12" descr="Warning outline">
            <a:extLst>
              <a:ext uri="{FF2B5EF4-FFF2-40B4-BE49-F238E27FC236}">
                <a16:creationId xmlns:a16="http://schemas.microsoft.com/office/drawing/2014/main" id="{C05A1734-B15A-C106-0409-42EB248A7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74778" y="482730"/>
            <a:ext cx="454381" cy="454381"/>
          </a:xfrm>
          <a:prstGeom prst="rect">
            <a:avLst/>
          </a:prstGeom>
        </p:spPr>
      </p:pic>
      <p:pic>
        <p:nvPicPr>
          <p:cNvPr id="21" name="Graphic 20" descr="Daily calendar with solid fill">
            <a:extLst>
              <a:ext uri="{FF2B5EF4-FFF2-40B4-BE49-F238E27FC236}">
                <a16:creationId xmlns:a16="http://schemas.microsoft.com/office/drawing/2014/main" id="{FB4DA07A-E4DE-2F22-BC38-564FBA0D00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80862" y="2489876"/>
            <a:ext cx="463536" cy="46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6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AA1F23-3FF3-96C1-1A9B-BD40C664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0"/>
            <a:ext cx="6502400" cy="6858000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FC923D3B-4092-10EF-90FD-6C419F086C52}"/>
              </a:ext>
            </a:extLst>
          </p:cNvPr>
          <p:cNvSpPr/>
          <p:nvPr/>
        </p:nvSpPr>
        <p:spPr>
          <a:xfrm>
            <a:off x="5689601" y="875988"/>
            <a:ext cx="6502400" cy="4940318"/>
          </a:xfrm>
          <a:prstGeom prst="rect">
            <a:avLst/>
          </a:prstGeom>
          <a:blipFill>
            <a:blip r:embed="rId3" cstate="print"/>
            <a:stretch>
              <a:fillRect r="-2289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F9CAF-64C4-E87B-7F75-010B0EE6F012}"/>
              </a:ext>
            </a:extLst>
          </p:cNvPr>
          <p:cNvSpPr txBox="1"/>
          <p:nvPr/>
        </p:nvSpPr>
        <p:spPr>
          <a:xfrm>
            <a:off x="767293" y="1426532"/>
            <a:ext cx="420766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We ensures all relevant data is available with the appropriate data quality to inform the VBP agreement.</a:t>
            </a:r>
          </a:p>
          <a:p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We deploy a smart contract that contains the pre-agreed contract criteria on its ‘Reimburse’ platform,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which transparently manage the agreement for all parties.</a:t>
            </a:r>
          </a:p>
          <a:p>
            <a:endParaRPr lang="en-GB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  <a:p>
            <a:endParaRPr lang="en-GB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08A1AFE2-4863-10DC-7693-8AE83260E4FF}"/>
              </a:ext>
            </a:extLst>
          </p:cNvPr>
          <p:cNvSpPr txBox="1">
            <a:spLocks/>
          </p:cNvSpPr>
          <p:nvPr/>
        </p:nvSpPr>
        <p:spPr>
          <a:xfrm>
            <a:off x="6096000" y="5816304"/>
            <a:ext cx="2266080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‘Best Blockchain-based </a:t>
            </a:r>
            <a:r>
              <a:rPr lang="en-GB" sz="1200" b="1" dirty="0" err="1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HealthTech</a:t>
            </a:r>
            <a:r>
              <a:rPr lang="en-GB" sz="1200" b="1" dirty="0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 Contracting Platform 2024’ W&amp;F Fintech Awards</a:t>
            </a:r>
          </a:p>
          <a:p>
            <a:pPr marL="0" indent="0" algn="ctr">
              <a:buNone/>
            </a:pPr>
            <a:endParaRPr lang="en-GB" sz="1200" b="1" dirty="0">
              <a:solidFill>
                <a:schemeClr val="bg1"/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>
              <a:buNone/>
            </a:pPr>
            <a:endParaRPr lang="en-GB" sz="1200" b="1" dirty="0">
              <a:solidFill>
                <a:schemeClr val="bg1"/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>
              <a:buFont typeface="Arial"/>
              <a:buNone/>
            </a:pPr>
            <a:r>
              <a:rPr lang="en-GB" sz="1200" b="1" dirty="0">
                <a:solidFill>
                  <a:schemeClr val="bg1"/>
                </a:solidFill>
                <a:latin typeface="Söhne"/>
              </a:rPr>
              <a:t>.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" name="Google Shape;74;p16">
            <a:extLst>
              <a:ext uri="{FF2B5EF4-FFF2-40B4-BE49-F238E27FC236}">
                <a16:creationId xmlns:a16="http://schemas.microsoft.com/office/drawing/2014/main" id="{176E5DF0-EADD-88EE-CCDE-F36B374B0F8E}"/>
              </a:ext>
            </a:extLst>
          </p:cNvPr>
          <p:cNvSpPr txBox="1">
            <a:spLocks/>
          </p:cNvSpPr>
          <p:nvPr/>
        </p:nvSpPr>
        <p:spPr>
          <a:xfrm>
            <a:off x="480878" y="5827737"/>
            <a:ext cx="2165162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PK"/>
            </a:defPPr>
            <a:lvl1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defRPr>
            </a:lvl1pPr>
            <a:lvl2pPr marL="914400" marR="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GB" dirty="0"/>
              <a:t>‘Digital Healthcare Company of The Year – 2024’ - Corporate </a:t>
            </a:r>
            <a:r>
              <a:rPr lang="en-GB" dirty="0" err="1"/>
              <a:t>LiveWire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Google Shape;74;p16">
            <a:extLst>
              <a:ext uri="{FF2B5EF4-FFF2-40B4-BE49-F238E27FC236}">
                <a16:creationId xmlns:a16="http://schemas.microsoft.com/office/drawing/2014/main" id="{C3662BE1-4D2A-B630-3381-BAED8062930B}"/>
              </a:ext>
            </a:extLst>
          </p:cNvPr>
          <p:cNvSpPr txBox="1">
            <a:spLocks/>
          </p:cNvSpPr>
          <p:nvPr/>
        </p:nvSpPr>
        <p:spPr>
          <a:xfrm>
            <a:off x="2712450" y="5827737"/>
            <a:ext cx="26198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  <a:ea typeface="+mn-ea"/>
                <a:cs typeface="+mn-cs"/>
              </a:rPr>
              <a:t>‘Best Value Healthcare Solutions Company 2024’ Technology Innovator Awards 2024</a:t>
            </a:r>
          </a:p>
          <a:p>
            <a:pPr marL="0" indent="0" algn="ctr">
              <a:buNone/>
            </a:pPr>
            <a:endParaRPr lang="en-GB" sz="1200" b="1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 algn="ctr">
              <a:buNone/>
            </a:pPr>
            <a:endParaRPr lang="en-GB" sz="1200" b="1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 algn="ctr">
              <a:buFont typeface="Arial"/>
              <a:buNone/>
            </a:pPr>
            <a:r>
              <a:rPr lang="en-GB" sz="1200" b="1" dirty="0">
                <a:solidFill>
                  <a:srgbClr val="374151"/>
                </a:solidFill>
                <a:latin typeface="Söhne"/>
              </a:rPr>
              <a:t>.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3ADE7-B41A-A462-D72F-54EDA8F17BAB}"/>
              </a:ext>
            </a:extLst>
          </p:cNvPr>
          <p:cNvSpPr txBox="1"/>
          <p:nvPr/>
        </p:nvSpPr>
        <p:spPr>
          <a:xfrm>
            <a:off x="397644" y="255886"/>
            <a:ext cx="4949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5.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Develop and Deploy.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9" name="Google Shape;74;p16">
            <a:extLst>
              <a:ext uri="{FF2B5EF4-FFF2-40B4-BE49-F238E27FC236}">
                <a16:creationId xmlns:a16="http://schemas.microsoft.com/office/drawing/2014/main" id="{053E7CA8-D3BB-B819-44F4-CF3985427170}"/>
              </a:ext>
            </a:extLst>
          </p:cNvPr>
          <p:cNvSpPr txBox="1">
            <a:spLocks/>
          </p:cNvSpPr>
          <p:nvPr/>
        </p:nvSpPr>
        <p:spPr>
          <a:xfrm>
            <a:off x="9271784" y="5816305"/>
            <a:ext cx="2439338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PK"/>
            </a:defPPr>
            <a:lvl1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bg1"/>
                </a:solidFill>
                <a:latin typeface="Proxima Nova Rg" panose="02000506030000020004" pitchFamily="2" charset="77"/>
              </a:defRPr>
            </a:lvl1pPr>
            <a:lvl2pPr marL="914400" marR="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GB" dirty="0"/>
              <a:t>Digital Healthcare Platform of the Year 2024 – UK </a:t>
            </a:r>
            <a:r>
              <a:rPr lang="en-GB" dirty="0" err="1"/>
              <a:t>LUXlife</a:t>
            </a:r>
            <a:r>
              <a:rPr lang="en-GB" dirty="0"/>
              <a:t> Award for Excellence in Innovation 2024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13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AA1F23-3FF3-96C1-1A9B-BD40C664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9" y="0"/>
            <a:ext cx="6502401" cy="6858000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FC923D3B-4092-10EF-90FD-6C419F086C52}"/>
              </a:ext>
            </a:extLst>
          </p:cNvPr>
          <p:cNvSpPr/>
          <p:nvPr/>
        </p:nvSpPr>
        <p:spPr>
          <a:xfrm>
            <a:off x="5689601" y="875988"/>
            <a:ext cx="6502400" cy="4940318"/>
          </a:xfrm>
          <a:prstGeom prst="rect">
            <a:avLst/>
          </a:prstGeom>
          <a:blipFill>
            <a:blip r:embed="rId3" cstate="print"/>
            <a:stretch>
              <a:fillRect r="-2289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F9CAF-64C4-E87B-7F75-010B0EE6F012}"/>
              </a:ext>
            </a:extLst>
          </p:cNvPr>
          <p:cNvSpPr txBox="1"/>
          <p:nvPr/>
        </p:nvSpPr>
        <p:spPr>
          <a:xfrm>
            <a:off x="767293" y="1426532"/>
            <a:ext cx="420766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We, as an independent third party, validates all outcome data received using additional complementary data points to ensure the performance evaluation of the health technology is accurate.</a:t>
            </a:r>
          </a:p>
          <a:p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</a:br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Contracting outcomes are shared with contracting parties on the ‘Reimburse’ platform to enable monitoring with relevant alerts.</a:t>
            </a:r>
          </a:p>
          <a:p>
            <a:endParaRPr lang="en-GB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  <a:p>
            <a:endParaRPr lang="en-GB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3ADE7-B41A-A462-D72F-54EDA8F17BAB}"/>
              </a:ext>
            </a:extLst>
          </p:cNvPr>
          <p:cNvSpPr txBox="1"/>
          <p:nvPr/>
        </p:nvSpPr>
        <p:spPr>
          <a:xfrm>
            <a:off x="397644" y="255886"/>
            <a:ext cx="4949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6.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Validate and Share.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83849120-CD0B-A6D0-8917-7CA90415A5E8}"/>
              </a:ext>
            </a:extLst>
          </p:cNvPr>
          <p:cNvSpPr txBox="1">
            <a:spLocks/>
          </p:cNvSpPr>
          <p:nvPr/>
        </p:nvSpPr>
        <p:spPr>
          <a:xfrm>
            <a:off x="6096000" y="5816304"/>
            <a:ext cx="2266080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‘Best Blockchain-based </a:t>
            </a:r>
            <a:r>
              <a:rPr lang="en-GB" sz="1200" b="1" dirty="0" err="1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HealthTech</a:t>
            </a:r>
            <a:r>
              <a:rPr lang="en-GB" sz="1200" b="1" dirty="0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 Contracting Platform 2024’ W&amp;F Fintech Awards</a:t>
            </a:r>
          </a:p>
          <a:p>
            <a:pPr marL="0" indent="0" algn="ctr">
              <a:buNone/>
            </a:pPr>
            <a:endParaRPr lang="en-GB" sz="1200" b="1" dirty="0">
              <a:solidFill>
                <a:schemeClr val="bg1"/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>
              <a:buNone/>
            </a:pPr>
            <a:endParaRPr lang="en-GB" sz="1200" b="1" dirty="0">
              <a:solidFill>
                <a:schemeClr val="bg1"/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>
              <a:buFont typeface="Arial"/>
              <a:buNone/>
            </a:pPr>
            <a:r>
              <a:rPr lang="en-GB" sz="1200" b="1" dirty="0">
                <a:solidFill>
                  <a:schemeClr val="bg1"/>
                </a:solidFill>
                <a:latin typeface="Söhne"/>
              </a:rPr>
              <a:t>.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" name="Google Shape;74;p16">
            <a:extLst>
              <a:ext uri="{FF2B5EF4-FFF2-40B4-BE49-F238E27FC236}">
                <a16:creationId xmlns:a16="http://schemas.microsoft.com/office/drawing/2014/main" id="{F7B89A3A-7445-2477-D75B-CDFA26E3E4D4}"/>
              </a:ext>
            </a:extLst>
          </p:cNvPr>
          <p:cNvSpPr txBox="1">
            <a:spLocks/>
          </p:cNvSpPr>
          <p:nvPr/>
        </p:nvSpPr>
        <p:spPr>
          <a:xfrm>
            <a:off x="480878" y="5827737"/>
            <a:ext cx="2165162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PK"/>
            </a:defPPr>
            <a:lvl1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defRPr>
            </a:lvl1pPr>
            <a:lvl2pPr marL="914400" marR="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GB" dirty="0"/>
              <a:t>‘Digital Healthcare Company of The Year – 2024’ - Corporate </a:t>
            </a:r>
            <a:r>
              <a:rPr lang="en-GB" dirty="0" err="1"/>
              <a:t>LiveWire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Google Shape;74;p16">
            <a:extLst>
              <a:ext uri="{FF2B5EF4-FFF2-40B4-BE49-F238E27FC236}">
                <a16:creationId xmlns:a16="http://schemas.microsoft.com/office/drawing/2014/main" id="{E91E9F89-5F27-04E1-F474-58E847DB06D1}"/>
              </a:ext>
            </a:extLst>
          </p:cNvPr>
          <p:cNvSpPr txBox="1">
            <a:spLocks/>
          </p:cNvSpPr>
          <p:nvPr/>
        </p:nvSpPr>
        <p:spPr>
          <a:xfrm>
            <a:off x="2712450" y="5827737"/>
            <a:ext cx="26198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  <a:ea typeface="+mn-ea"/>
                <a:cs typeface="+mn-cs"/>
              </a:rPr>
              <a:t>‘Best Value Healthcare Solutions Company 2024’ Technology Innovator Awards 2024</a:t>
            </a:r>
          </a:p>
          <a:p>
            <a:pPr marL="0" indent="0" algn="ctr">
              <a:buNone/>
            </a:pPr>
            <a:endParaRPr lang="en-GB" sz="1200" b="1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 algn="ctr">
              <a:buNone/>
            </a:pPr>
            <a:endParaRPr lang="en-GB" sz="1200" b="1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 algn="ctr">
              <a:buFont typeface="Arial"/>
              <a:buNone/>
            </a:pPr>
            <a:r>
              <a:rPr lang="en-GB" sz="1200" b="1" dirty="0">
                <a:solidFill>
                  <a:srgbClr val="374151"/>
                </a:solidFill>
                <a:latin typeface="Söhne"/>
              </a:rPr>
              <a:t>.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3" name="Google Shape;74;p16">
            <a:extLst>
              <a:ext uri="{FF2B5EF4-FFF2-40B4-BE49-F238E27FC236}">
                <a16:creationId xmlns:a16="http://schemas.microsoft.com/office/drawing/2014/main" id="{F6925CFF-B5F0-CC80-E02E-8FF45EE7385D}"/>
              </a:ext>
            </a:extLst>
          </p:cNvPr>
          <p:cNvSpPr txBox="1">
            <a:spLocks/>
          </p:cNvSpPr>
          <p:nvPr/>
        </p:nvSpPr>
        <p:spPr>
          <a:xfrm>
            <a:off x="9271784" y="5816305"/>
            <a:ext cx="2439338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PK"/>
            </a:defPPr>
            <a:lvl1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bg1"/>
                </a:solidFill>
                <a:latin typeface="Proxima Nova Rg" panose="02000506030000020004" pitchFamily="2" charset="77"/>
              </a:defRPr>
            </a:lvl1pPr>
            <a:lvl2pPr marL="914400" marR="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GB" dirty="0"/>
              <a:t>Digital Healthcare Platform of the Year 2024 – UK </a:t>
            </a:r>
            <a:r>
              <a:rPr lang="en-GB" dirty="0" err="1"/>
              <a:t>LUXlife</a:t>
            </a:r>
            <a:r>
              <a:rPr lang="en-GB" dirty="0"/>
              <a:t> Award for Excellence in Innovation 2024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949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AA1F23-3FF3-96C1-1A9B-BD40C664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9" y="0"/>
            <a:ext cx="6502401" cy="6858000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FC923D3B-4092-10EF-90FD-6C419F086C52}"/>
              </a:ext>
            </a:extLst>
          </p:cNvPr>
          <p:cNvSpPr/>
          <p:nvPr/>
        </p:nvSpPr>
        <p:spPr>
          <a:xfrm>
            <a:off x="5689601" y="875988"/>
            <a:ext cx="6502400" cy="4940318"/>
          </a:xfrm>
          <a:prstGeom prst="rect">
            <a:avLst/>
          </a:prstGeom>
          <a:blipFill>
            <a:blip r:embed="rId3" cstate="print"/>
            <a:stretch>
              <a:fillRect r="-2289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F9CAF-64C4-E87B-7F75-010B0EE6F012}"/>
              </a:ext>
            </a:extLst>
          </p:cNvPr>
          <p:cNvSpPr txBox="1"/>
          <p:nvPr/>
        </p:nvSpPr>
        <p:spPr>
          <a:xfrm>
            <a:off x="768447" y="1585356"/>
            <a:ext cx="420766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Based on the real-world value of the therapy. The provider receives a refund or compensation in the form of replacement vials for all doses provided to patients that do not benefit from the therapy according to the multi-party agreement.</a:t>
            </a:r>
          </a:p>
          <a:p>
            <a:br>
              <a:rPr lang="en-US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</a:br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Where patients benefit from the therapy the provider does not receive any compensation or refund.</a:t>
            </a:r>
          </a:p>
          <a:p>
            <a:endParaRPr lang="en-GB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  <a:p>
            <a:endParaRPr lang="en-GB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3ADE7-B41A-A462-D72F-54EDA8F17BAB}"/>
              </a:ext>
            </a:extLst>
          </p:cNvPr>
          <p:cNvSpPr txBox="1"/>
          <p:nvPr/>
        </p:nvSpPr>
        <p:spPr>
          <a:xfrm>
            <a:off x="397644" y="255886"/>
            <a:ext cx="4949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7.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Pay for performance.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FB7FD193-1AFC-2C84-FBF6-7D6650CB93E2}"/>
              </a:ext>
            </a:extLst>
          </p:cNvPr>
          <p:cNvSpPr txBox="1">
            <a:spLocks/>
          </p:cNvSpPr>
          <p:nvPr/>
        </p:nvSpPr>
        <p:spPr>
          <a:xfrm>
            <a:off x="6096000" y="5816304"/>
            <a:ext cx="2266080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‘Best Blockchain-based </a:t>
            </a:r>
            <a:r>
              <a:rPr lang="en-GB" sz="1200" b="1" dirty="0" err="1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HealthTech</a:t>
            </a:r>
            <a:r>
              <a:rPr lang="en-GB" sz="1200" b="1" dirty="0">
                <a:solidFill>
                  <a:schemeClr val="bg1"/>
                </a:solidFill>
                <a:latin typeface="Proxima Nova Rg" panose="02000506030000020004" pitchFamily="2" charset="77"/>
                <a:ea typeface="+mn-ea"/>
                <a:cs typeface="+mn-cs"/>
              </a:rPr>
              <a:t> Contracting Platform 2024’ W&amp;F Fintech Awards</a:t>
            </a:r>
          </a:p>
          <a:p>
            <a:pPr marL="0" indent="0" algn="ctr">
              <a:buNone/>
            </a:pPr>
            <a:endParaRPr lang="en-GB" sz="1200" b="1" dirty="0">
              <a:solidFill>
                <a:schemeClr val="bg1"/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>
              <a:buNone/>
            </a:pPr>
            <a:endParaRPr lang="en-GB" sz="1200" b="1" dirty="0">
              <a:solidFill>
                <a:schemeClr val="bg1"/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>
              <a:buFont typeface="Arial"/>
              <a:buNone/>
            </a:pPr>
            <a:r>
              <a:rPr lang="en-GB" sz="1200" b="1" dirty="0">
                <a:solidFill>
                  <a:schemeClr val="bg1"/>
                </a:solidFill>
                <a:latin typeface="Söhne"/>
              </a:rPr>
              <a:t>.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5" name="Google Shape;74;p16">
            <a:extLst>
              <a:ext uri="{FF2B5EF4-FFF2-40B4-BE49-F238E27FC236}">
                <a16:creationId xmlns:a16="http://schemas.microsoft.com/office/drawing/2014/main" id="{DD943B31-1F91-57DA-ADB3-A845DE920C38}"/>
              </a:ext>
            </a:extLst>
          </p:cNvPr>
          <p:cNvSpPr txBox="1">
            <a:spLocks/>
          </p:cNvSpPr>
          <p:nvPr/>
        </p:nvSpPr>
        <p:spPr>
          <a:xfrm>
            <a:off x="480878" y="5827737"/>
            <a:ext cx="2165162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PK"/>
            </a:defPPr>
            <a:lvl1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defRPr>
            </a:lvl1pPr>
            <a:lvl2pPr marL="914400" marR="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GB" dirty="0"/>
              <a:t>‘Digital Healthcare Company of The Year – 2024’ - Corporate </a:t>
            </a:r>
            <a:r>
              <a:rPr lang="en-GB" dirty="0" err="1"/>
              <a:t>LiveWire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Google Shape;74;p16">
            <a:extLst>
              <a:ext uri="{FF2B5EF4-FFF2-40B4-BE49-F238E27FC236}">
                <a16:creationId xmlns:a16="http://schemas.microsoft.com/office/drawing/2014/main" id="{D27A438B-6A22-6936-8FC6-36EE1659252C}"/>
              </a:ext>
            </a:extLst>
          </p:cNvPr>
          <p:cNvSpPr txBox="1">
            <a:spLocks/>
          </p:cNvSpPr>
          <p:nvPr/>
        </p:nvSpPr>
        <p:spPr>
          <a:xfrm>
            <a:off x="2712450" y="5827737"/>
            <a:ext cx="26198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  <a:ea typeface="+mn-ea"/>
                <a:cs typeface="+mn-cs"/>
              </a:rPr>
              <a:t>‘Best Value Healthcare Solutions Company 2024’ Technology Innovator Awards 2024</a:t>
            </a:r>
          </a:p>
          <a:p>
            <a:pPr marL="0" indent="0" algn="ctr">
              <a:buNone/>
            </a:pPr>
            <a:endParaRPr lang="en-GB" sz="1200" b="1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 algn="ctr">
              <a:buNone/>
            </a:pPr>
            <a:endParaRPr lang="en-GB" sz="1200" b="1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  <a:ea typeface="+mn-ea"/>
              <a:cs typeface="+mn-cs"/>
            </a:endParaRPr>
          </a:p>
          <a:p>
            <a:pPr marL="0" indent="0" algn="ctr">
              <a:buFont typeface="Arial"/>
              <a:buNone/>
            </a:pPr>
            <a:r>
              <a:rPr lang="en-GB" sz="1200" b="1" dirty="0">
                <a:solidFill>
                  <a:srgbClr val="374151"/>
                </a:solidFill>
                <a:latin typeface="Söhne"/>
              </a:rPr>
              <a:t>.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3" name="Google Shape;74;p16">
            <a:extLst>
              <a:ext uri="{FF2B5EF4-FFF2-40B4-BE49-F238E27FC236}">
                <a16:creationId xmlns:a16="http://schemas.microsoft.com/office/drawing/2014/main" id="{F66D0795-A99C-8B19-4C8C-8C1581D6D9ED}"/>
              </a:ext>
            </a:extLst>
          </p:cNvPr>
          <p:cNvSpPr txBox="1">
            <a:spLocks/>
          </p:cNvSpPr>
          <p:nvPr/>
        </p:nvSpPr>
        <p:spPr>
          <a:xfrm>
            <a:off x="9271784" y="5816305"/>
            <a:ext cx="2439338" cy="42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PK"/>
            </a:defPPr>
            <a:lvl1pPr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200" b="1" i="0" u="none" strike="noStrike" cap="none">
                <a:solidFill>
                  <a:schemeClr val="bg1"/>
                </a:solidFill>
                <a:latin typeface="Proxima Nova Rg" panose="02000506030000020004" pitchFamily="2" charset="77"/>
              </a:defRPr>
            </a:lvl1pPr>
            <a:lvl2pPr marL="914400" marR="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GB" dirty="0"/>
              <a:t>Digital Healthcare Platform of the Year 2024 – UK </a:t>
            </a:r>
            <a:r>
              <a:rPr lang="en-GB" dirty="0" err="1"/>
              <a:t>LUXlife</a:t>
            </a:r>
            <a:r>
              <a:rPr lang="en-GB" dirty="0"/>
              <a:t> Award for Excellence in Innovation 2024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82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9289CD-9B04-D24A-1549-1D0E34FC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0960"/>
            <a:ext cx="12192000" cy="42570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556F6-56C7-B848-9BBF-348179F75EDD}"/>
              </a:ext>
            </a:extLst>
          </p:cNvPr>
          <p:cNvSpPr txBox="1"/>
          <p:nvPr/>
        </p:nvSpPr>
        <p:spPr>
          <a:xfrm>
            <a:off x="720876" y="4832395"/>
            <a:ext cx="2533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Improved Outcomes &amp; Patient Satisfaction</a:t>
            </a:r>
          </a:p>
          <a:p>
            <a:endParaRPr lang="en-PK" dirty="0">
              <a:solidFill>
                <a:schemeClr val="bg1"/>
              </a:solidFill>
              <a:latin typeface="FSP DEMO - Proxima Nova" panose="0200050603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B6ECB-D10B-306F-65AA-2EC9A255AB88}"/>
              </a:ext>
            </a:extLst>
          </p:cNvPr>
          <p:cNvSpPr txBox="1"/>
          <p:nvPr/>
        </p:nvSpPr>
        <p:spPr>
          <a:xfrm>
            <a:off x="4848032" y="3641762"/>
            <a:ext cx="2286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Financial Sustainability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C61FC-E7C9-F3AD-F6F2-83FD8E8D5458}"/>
              </a:ext>
            </a:extLst>
          </p:cNvPr>
          <p:cNvSpPr txBox="1"/>
          <p:nvPr/>
        </p:nvSpPr>
        <p:spPr>
          <a:xfrm>
            <a:off x="4848032" y="4832395"/>
            <a:ext cx="397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Evidence-Based Decision Making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7C9A7-6529-7274-75AF-8BC4B387D8F7}"/>
              </a:ext>
            </a:extLst>
          </p:cNvPr>
          <p:cNvSpPr txBox="1"/>
          <p:nvPr/>
        </p:nvSpPr>
        <p:spPr>
          <a:xfrm>
            <a:off x="720875" y="3641762"/>
            <a:ext cx="2687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FSP DEMO - Proxima Nova" panose="02000506030000020004" pitchFamily="2" charset="0"/>
              </a:rPr>
              <a:t>Savings Across All Technologies &amp; Services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3A4681-8005-5E19-2461-837FB2C5158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4962332" y="3247129"/>
            <a:ext cx="297910" cy="2979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D908A0-5385-4317-282C-DF34F580235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35175" y="3185717"/>
            <a:ext cx="359322" cy="3593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C674DC-F2E0-339C-F209-B60EE65E6AD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35175" y="4355882"/>
            <a:ext cx="297910" cy="351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2B168A-1991-25B0-3177-DA7C37D9F03A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4962332" y="4419135"/>
            <a:ext cx="254876" cy="2879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D34D19-F907-EFA8-1CF5-ECD5CC02017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447"/>
          <a:stretch/>
        </p:blipFill>
        <p:spPr>
          <a:xfrm rot="13932724">
            <a:off x="9330128" y="2932929"/>
            <a:ext cx="3714295" cy="4692741"/>
          </a:xfrm>
          <a:custGeom>
            <a:avLst/>
            <a:gdLst>
              <a:gd name="connsiteX0" fmla="*/ 4354286 w 4354286"/>
              <a:gd name="connsiteY0" fmla="*/ 5501323 h 5501323"/>
              <a:gd name="connsiteX1" fmla="*/ 3811715 w 4354286"/>
              <a:gd name="connsiteY1" fmla="*/ 5501323 h 5501323"/>
              <a:gd name="connsiteX2" fmla="*/ 0 w 4354286"/>
              <a:gd name="connsiteY2" fmla="*/ 2545939 h 5501323"/>
              <a:gd name="connsiteX3" fmla="*/ 1973975 w 4354286"/>
              <a:gd name="connsiteY3" fmla="*/ 0 h 5501323"/>
              <a:gd name="connsiteX4" fmla="*/ 4354286 w 4354286"/>
              <a:gd name="connsiteY4" fmla="*/ 0 h 550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4286" h="5501323">
                <a:moveTo>
                  <a:pt x="4354286" y="5501323"/>
                </a:moveTo>
                <a:lnTo>
                  <a:pt x="3811715" y="5501323"/>
                </a:lnTo>
                <a:lnTo>
                  <a:pt x="0" y="2545939"/>
                </a:lnTo>
                <a:lnTo>
                  <a:pt x="1973975" y="0"/>
                </a:lnTo>
                <a:lnTo>
                  <a:pt x="4354286" y="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567C0D-E076-9D09-89CA-5C8606037CA0}"/>
              </a:ext>
            </a:extLst>
          </p:cNvPr>
          <p:cNvSpPr txBox="1"/>
          <p:nvPr/>
        </p:nvSpPr>
        <p:spPr>
          <a:xfrm>
            <a:off x="115218" y="167291"/>
            <a:ext cx="47328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757F8"/>
                </a:solidFill>
                <a:latin typeface="Montserrat" pitchFamily="2" charset="0"/>
              </a:rPr>
              <a:t>8. </a:t>
            </a:r>
            <a:r>
              <a:rPr lang="en-US" sz="2400" b="1" dirty="0">
                <a:solidFill>
                  <a:srgbClr val="3757F8"/>
                </a:solidFill>
                <a:latin typeface="Montserrat" pitchFamily="2" charset="0"/>
              </a:rPr>
              <a:t>Resource reallocation and enhanced savings</a:t>
            </a:r>
            <a:endParaRPr lang="en-PK" sz="6000" b="1" dirty="0">
              <a:solidFill>
                <a:srgbClr val="3757F8"/>
              </a:solidFill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F0082-5E7E-0FD4-E9D5-7FFAF8A725B4}"/>
              </a:ext>
            </a:extLst>
          </p:cNvPr>
          <p:cNvSpPr txBox="1"/>
          <p:nvPr/>
        </p:nvSpPr>
        <p:spPr>
          <a:xfrm>
            <a:off x="5390472" y="326233"/>
            <a:ext cx="49491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Due to significant cost savings the healthcare provider is now able to reallocate limited. The provider also identifies additional savings opportunities </a:t>
            </a:r>
            <a:r>
              <a:rPr lang="en-GB" sz="200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using our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2" charset="77"/>
              </a:rPr>
              <a:t>AI-based waste identification tool.</a:t>
            </a:r>
            <a:endParaRPr lang="en-PK" sz="2000" dirty="0">
              <a:solidFill>
                <a:schemeClr val="bg1">
                  <a:lumMod val="50000"/>
                </a:schemeClr>
              </a:solidFill>
              <a:latin typeface="Proxima Nova Rg" panose="02000506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4634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59289CD-9B04-D24A-1549-1D0E34FC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3196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9F21F7-17BA-B517-EB31-5B28606F1DDE}"/>
              </a:ext>
            </a:extLst>
          </p:cNvPr>
          <p:cNvSpPr txBox="1"/>
          <p:nvPr/>
        </p:nvSpPr>
        <p:spPr>
          <a:xfrm>
            <a:off x="6096000" y="6464709"/>
            <a:ext cx="2819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1200" dirty="0">
                <a:solidFill>
                  <a:schemeClr val="bg1"/>
                </a:solidFill>
                <a:latin typeface="Proxima Nova Rg" panose="02000506030000020004" pitchFamily="2" charset="77"/>
              </a:rPr>
              <a:t>www.digipharm.io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DB858A-C060-B303-BD27-C6C8575C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773" y="1890865"/>
            <a:ext cx="994128" cy="9404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6D1FFB-CCEE-ADDF-EEED-AE3A22BA2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223" y="1315561"/>
            <a:ext cx="3163847" cy="21215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BDC48C-554F-D698-688C-3E1A9C9CD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013" y="5341285"/>
            <a:ext cx="1343133" cy="6984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90A2F2-CAA7-BD6C-1CDA-5A52A8CA4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988" y="896081"/>
            <a:ext cx="1642161" cy="664562"/>
          </a:xfrm>
          <a:prstGeom prst="rect">
            <a:avLst/>
          </a:prstGeom>
        </p:spPr>
      </p:pic>
      <p:pic>
        <p:nvPicPr>
          <p:cNvPr id="1026" name="Picture 2" descr="Accueil | PISAM | Polyclinique Sainte Anne-Marie">
            <a:extLst>
              <a:ext uri="{FF2B5EF4-FFF2-40B4-BE49-F238E27FC236}">
                <a16:creationId xmlns:a16="http://schemas.microsoft.com/office/drawing/2014/main" id="{25B4B22F-4CA2-84B7-6A51-0548E1EB7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6" b="1272"/>
          <a:stretch/>
        </p:blipFill>
        <p:spPr bwMode="auto">
          <a:xfrm>
            <a:off x="8851557" y="653466"/>
            <a:ext cx="2065839" cy="85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obs at SafetyWing - Otta - The only job search that does you justice">
            <a:extLst>
              <a:ext uri="{FF2B5EF4-FFF2-40B4-BE49-F238E27FC236}">
                <a16:creationId xmlns:a16="http://schemas.microsoft.com/office/drawing/2014/main" id="{AB934D7D-4F70-A7C7-DA65-EA35335D2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846" y="3153409"/>
            <a:ext cx="2077542" cy="70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10" descr="Ephicient logo">
            <a:extLst>
              <a:ext uri="{FF2B5EF4-FFF2-40B4-BE49-F238E27FC236}">
                <a16:creationId xmlns:a16="http://schemas.microsoft.com/office/drawing/2014/main" id="{6B4423F4-FF54-13BA-C5DE-DD0C97FA7C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07924" y="3276600"/>
            <a:ext cx="1540476" cy="15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Q"/>
          </a:p>
        </p:txBody>
      </p:sp>
      <p:pic>
        <p:nvPicPr>
          <p:cNvPr id="1038" name="Picture 14" descr="Life Sciences Hub - Public Health Wales">
            <a:extLst>
              <a:ext uri="{FF2B5EF4-FFF2-40B4-BE49-F238E27FC236}">
                <a16:creationId xmlns:a16="http://schemas.microsoft.com/office/drawing/2014/main" id="{760C2B37-C47D-7572-67A8-6D9C5A03D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5" t="31964" r="12128" b="39969"/>
          <a:stretch/>
        </p:blipFill>
        <p:spPr bwMode="auto">
          <a:xfrm>
            <a:off x="6248400" y="4304731"/>
            <a:ext cx="2603157" cy="61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1A3D777-AE2D-3952-C734-ED9C8E391ABB}"/>
              </a:ext>
            </a:extLst>
          </p:cNvPr>
          <p:cNvSpPr txBox="1"/>
          <p:nvPr/>
        </p:nvSpPr>
        <p:spPr>
          <a:xfrm>
            <a:off x="591554" y="803322"/>
            <a:ext cx="4376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FSP DEMO - Proxima Nova" panose="02000506030000020004" pitchFamily="2" charset="0"/>
              </a:rPr>
              <a:t>Through our solutions, healthcare organisations unlock cost savings while improving patient outcomes.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9CAF-64C4-E87B-7F75-010B0EE6F012}"/>
              </a:ext>
            </a:extLst>
          </p:cNvPr>
          <p:cNvSpPr txBox="1"/>
          <p:nvPr/>
        </p:nvSpPr>
        <p:spPr>
          <a:xfrm>
            <a:off x="591554" y="2583866"/>
            <a:ext cx="41163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oxima Nova Rg" panose="02000506030000020004" pitchFamily="2" charset="77"/>
              </a:rPr>
              <a:t>Don't just take our word for it. Our platforms have been successfully implemented by leading institutions. Our satisfied customers have achieved remarkable results, enhancing access, patient outcomes and significant cost savings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C7C11A4-0742-A2BA-73E9-061F2501FE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0044" y="4043642"/>
            <a:ext cx="1511857" cy="773434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BB172D3F-CE33-2267-22EF-CA9ACD8657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9693" y="3098460"/>
            <a:ext cx="1944749" cy="869342"/>
          </a:xfrm>
          <a:prstGeom prst="rect">
            <a:avLst/>
          </a:prstGeom>
        </p:spPr>
      </p:pic>
      <p:pic>
        <p:nvPicPr>
          <p:cNvPr id="6" name="Picture 2" descr="King Abdullah University of Science and Technology - Wikipedia">
            <a:extLst>
              <a:ext uri="{FF2B5EF4-FFF2-40B4-BE49-F238E27FC236}">
                <a16:creationId xmlns:a16="http://schemas.microsoft.com/office/drawing/2014/main" id="{53BA7BCC-44BD-D65A-37F9-07EF0E9A4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557" y="5015792"/>
            <a:ext cx="2233341" cy="102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085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6236</TotalTime>
  <Words>762</Words>
  <Application>Microsoft Macintosh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Effra Light</vt:lpstr>
      <vt:lpstr>FSP DEMO - Proxima Nova</vt:lpstr>
      <vt:lpstr>Montserrat</vt:lpstr>
      <vt:lpstr>Proxima Nova Rg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Ahmed Abdulla</cp:lastModifiedBy>
  <cp:revision>95</cp:revision>
  <dcterms:created xsi:type="dcterms:W3CDTF">2023-02-22T16:30:47Z</dcterms:created>
  <dcterms:modified xsi:type="dcterms:W3CDTF">2025-03-03T21:02:00Z</dcterms:modified>
</cp:coreProperties>
</file>