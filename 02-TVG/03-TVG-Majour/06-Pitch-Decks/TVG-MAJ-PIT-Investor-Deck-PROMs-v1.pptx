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Majour – Patient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marL="457200" lvl="1" indent="0" algn="ctr">
              <a:buNone/>
            </a:pPr>
            <a:r>
              <a:rPr lang="en-GB" dirty="0"/>
              <a:t>Building the patient engagement layer for the middle east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Low PROM/PREM reliability</a:t>
            </a:r>
          </a:p>
          <a:p>
            <a:pPr lvl="1"/>
            <a:r>
              <a:rPr dirty="0"/>
              <a:t>Poor engagement &amp; response rates</a:t>
            </a:r>
          </a:p>
          <a:p>
            <a:pPr lvl="1"/>
            <a:r>
              <a:rPr dirty="0" err="1"/>
              <a:t>Behaviour</a:t>
            </a:r>
            <a:r>
              <a:rPr dirty="0"/>
              <a:t> data not linked to outcomes</a:t>
            </a:r>
          </a:p>
          <a:p>
            <a:pPr lvl="1"/>
            <a:r>
              <a:rPr dirty="0"/>
              <a:t>Lack of GCC‑</a:t>
            </a:r>
            <a:r>
              <a:rPr lang="en-GB" dirty="0"/>
              <a:t>born</a:t>
            </a:r>
            <a:r>
              <a:rPr dirty="0"/>
              <a:t> validated solution</a:t>
            </a:r>
            <a:r>
              <a:rPr lang="en-GB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AI‑validated PROMs/PREMs</a:t>
            </a:r>
          </a:p>
          <a:p>
            <a:pPr lvl="1"/>
            <a:r>
              <a:rPr lang="en-GB" dirty="0"/>
              <a:t>Remote patient behavioural </a:t>
            </a:r>
            <a:r>
              <a:rPr dirty="0"/>
              <a:t>monitoring</a:t>
            </a:r>
            <a:endParaRPr lang="en-GB" dirty="0"/>
          </a:p>
          <a:p>
            <a:pPr lvl="1"/>
            <a:r>
              <a:rPr lang="en-GB" dirty="0"/>
              <a:t>AI call centre for survey collection</a:t>
            </a:r>
            <a:endParaRPr dirty="0"/>
          </a:p>
          <a:p>
            <a:pPr lvl="1"/>
            <a:r>
              <a:rPr dirty="0" err="1"/>
              <a:t>Tokenised</a:t>
            </a:r>
            <a:r>
              <a:rPr dirty="0"/>
              <a:t> incentives for engagement</a:t>
            </a:r>
          </a:p>
          <a:p>
            <a:pPr lvl="1"/>
            <a:r>
              <a:rPr dirty="0"/>
              <a:t>50+ language </a:t>
            </a:r>
            <a:r>
              <a:rPr dirty="0" err="1"/>
              <a:t>localisation</a:t>
            </a:r>
            <a:endParaRPr dirty="0"/>
          </a:p>
          <a:p>
            <a:pPr lvl="1"/>
            <a:r>
              <a:rPr dirty="0"/>
              <a:t>ICHOM-ready outcome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Only GCC‑ready validated PROM platform</a:t>
            </a:r>
          </a:p>
          <a:p>
            <a:pPr lvl="1"/>
            <a:r>
              <a:rPr dirty="0"/>
              <a:t>AI outcome verification vs </a:t>
            </a:r>
            <a:r>
              <a:rPr dirty="0" err="1"/>
              <a:t>behaviour</a:t>
            </a:r>
            <a:r>
              <a:rPr dirty="0"/>
              <a:t> + clinical signals</a:t>
            </a:r>
          </a:p>
          <a:p>
            <a:pPr lvl="1"/>
            <a:r>
              <a:rPr dirty="0"/>
              <a:t>Integrated wearables</a:t>
            </a:r>
            <a:endParaRPr lang="en-GB" dirty="0"/>
          </a:p>
          <a:p>
            <a:pPr lvl="1"/>
            <a:r>
              <a:rPr lang="en-GB" dirty="0"/>
              <a:t>AI Scoring &amp; Mapping</a:t>
            </a:r>
            <a:endParaRPr dirty="0"/>
          </a:p>
          <a:p>
            <a:pPr lvl="1"/>
            <a:r>
              <a:rPr dirty="0"/>
              <a:t>Token rewards marketplace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/ SAM / SOM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TAM (GCC Digital Health): $6.5B</a:t>
            </a:r>
          </a:p>
          <a:p>
            <a:pPr lvl="1"/>
            <a:r>
              <a:t>SAM (PROMs/Behavioural Health): $720M</a:t>
            </a:r>
          </a:p>
          <a:p>
            <a:pPr lvl="1"/>
            <a:r>
              <a:t>SOM (5-year target): $60–90M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SaaS licensing</a:t>
            </a:r>
          </a:p>
          <a:p>
            <a:pPr lvl="1"/>
            <a:r>
              <a:t>Per-survey fees</a:t>
            </a:r>
          </a:p>
          <a:p>
            <a:pPr lvl="1"/>
            <a:r>
              <a:t>Marketplace revenue</a:t>
            </a:r>
          </a:p>
          <a:p>
            <a:pPr lvl="1"/>
            <a:r>
              <a:t>API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Go-To-Market: Saudi → GCC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Year </a:t>
            </a:r>
            <a:r>
              <a:rPr lang="en-GB" dirty="0"/>
              <a:t>0</a:t>
            </a:r>
            <a:r>
              <a:rPr dirty="0"/>
              <a:t>–</a:t>
            </a:r>
            <a:r>
              <a:rPr lang="en-GB" dirty="0"/>
              <a:t>1</a:t>
            </a:r>
            <a:r>
              <a:rPr dirty="0"/>
              <a:t>: Providers + Insurers</a:t>
            </a:r>
          </a:p>
          <a:p>
            <a:pPr lvl="1"/>
            <a:r>
              <a:rPr dirty="0"/>
              <a:t>Year </a:t>
            </a:r>
            <a:r>
              <a:rPr lang="en-GB" dirty="0"/>
              <a:t>1</a:t>
            </a:r>
            <a:r>
              <a:rPr dirty="0"/>
              <a:t>–</a:t>
            </a:r>
            <a:r>
              <a:rPr lang="en-GB" dirty="0"/>
              <a:t>2</a:t>
            </a:r>
            <a:r>
              <a:rPr dirty="0"/>
              <a:t>: </a:t>
            </a:r>
            <a:r>
              <a:rPr lang="en-GB" dirty="0"/>
              <a:t>National Deployments &amp;  GCC Expansion</a:t>
            </a:r>
            <a:endParaRPr dirty="0"/>
          </a:p>
          <a:p>
            <a:pPr lvl="1"/>
            <a:r>
              <a:rPr dirty="0"/>
              <a:t>Year </a:t>
            </a:r>
            <a:r>
              <a:rPr lang="en-GB" dirty="0"/>
              <a:t>3</a:t>
            </a:r>
            <a:r>
              <a:rPr dirty="0"/>
              <a:t>–</a:t>
            </a:r>
            <a:r>
              <a:rPr lang="en-GB" dirty="0"/>
              <a:t>5</a:t>
            </a:r>
            <a:r>
              <a:rPr dirty="0"/>
              <a:t>:</a:t>
            </a:r>
            <a:r>
              <a:rPr lang="en-GB" dirty="0"/>
              <a:t> Internal Expansion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lang="en-GB" dirty="0"/>
              <a:t>Not limited to PROMs/PREMs</a:t>
            </a:r>
          </a:p>
          <a:p>
            <a:pPr lvl="1"/>
            <a:r>
              <a:rPr lang="en-GB" dirty="0"/>
              <a:t>Behavioural Data</a:t>
            </a:r>
          </a:p>
          <a:p>
            <a:pPr lvl="1"/>
            <a:r>
              <a:rPr lang="en-GB" dirty="0"/>
              <a:t>AI call centre Redeemable Incentives</a:t>
            </a:r>
          </a:p>
          <a:p>
            <a:pPr lvl="1"/>
            <a:r>
              <a:rPr lang="en-GB" dirty="0"/>
              <a:t>AI Scoring &amp; Mapping Engines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dirty="0"/>
          </a:p>
          <a:p>
            <a:pPr lvl="1"/>
            <a:r>
              <a:rPr dirty="0" err="1"/>
              <a:t>Majour</a:t>
            </a:r>
            <a:r>
              <a:rPr dirty="0"/>
              <a:t> is the only platform offering all four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$</a:t>
            </a:r>
            <a:r>
              <a:rPr lang="en-GB" dirty="0"/>
              <a:t>2.5</a:t>
            </a:r>
            <a:r>
              <a:rPr dirty="0"/>
              <a:t>M Seed </a:t>
            </a:r>
            <a:endParaRPr lang="en-GB" dirty="0"/>
          </a:p>
          <a:p>
            <a:pPr lvl="1"/>
            <a:endParaRPr lang="en-GB" dirty="0"/>
          </a:p>
          <a:p>
            <a:pPr lvl="1">
              <a:buFontTx/>
              <a:buChar char="-"/>
            </a:pPr>
            <a:r>
              <a:rPr lang="en-GB" dirty="0"/>
              <a:t>3</a:t>
            </a:r>
            <a:r>
              <a:rPr dirty="0"/>
              <a:t>0% Product </a:t>
            </a:r>
            <a:r>
              <a:rPr lang="en-GB" dirty="0"/>
              <a:t>Development</a:t>
            </a:r>
          </a:p>
          <a:p>
            <a:pPr lvl="1">
              <a:buFontTx/>
              <a:buChar char="-"/>
            </a:pPr>
            <a:r>
              <a:rPr lang="en-GB" dirty="0"/>
              <a:t>30% Commercialisation </a:t>
            </a:r>
          </a:p>
          <a:p>
            <a:pPr lvl="1">
              <a:buFontTx/>
              <a:buChar char="-"/>
            </a:pPr>
            <a:r>
              <a:rPr lang="en-GB" dirty="0"/>
              <a:t>1</a:t>
            </a:r>
            <a:r>
              <a:rPr dirty="0"/>
              <a:t>0% </a:t>
            </a:r>
            <a:r>
              <a:rPr lang="en-GB" dirty="0"/>
              <a:t>Marketing </a:t>
            </a:r>
            <a:endParaRPr dirty="0"/>
          </a:p>
          <a:p>
            <a:pPr lvl="1">
              <a:buFontTx/>
              <a:buChar char="-"/>
            </a:pPr>
            <a:r>
              <a:rPr dirty="0"/>
              <a:t>10% </a:t>
            </a:r>
            <a:r>
              <a:rPr lang="en-GB" dirty="0"/>
              <a:t>Legal &amp; Compliance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214</Words>
  <Application>Microsoft Macintosh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Majour – Patient Intelligence Platform</vt:lpstr>
      <vt:lpstr>Problem</vt:lpstr>
      <vt:lpstr>Solution</vt:lpstr>
      <vt:lpstr>Unique Value Proposition</vt:lpstr>
      <vt:lpstr>TAM / SAM / SOM</vt:lpstr>
      <vt:lpstr>Business Model</vt:lpstr>
      <vt:lpstr>Go-To-Market: Saudi → GCC</vt:lpstr>
      <vt:lpstr>Competitive Advantage</vt:lpstr>
      <vt:lpstr>Investment 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Abdulla</cp:lastModifiedBy>
  <cp:revision>3</cp:revision>
  <dcterms:created xsi:type="dcterms:W3CDTF">2013-01-27T09:14:16Z</dcterms:created>
  <dcterms:modified xsi:type="dcterms:W3CDTF">2025-12-11T20:57:40Z</dcterms:modified>
  <cp:category/>
</cp:coreProperties>
</file>