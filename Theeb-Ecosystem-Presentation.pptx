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05840"/>
            <a:ext cx="54864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229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THEEB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6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Complete Healthcare Infrastructure of Saudi Arabia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2103120" cy="32918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53872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 — Knowledge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520440"/>
            <a:ext cx="2103120" cy="32918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353872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TVG — Value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3520440"/>
            <a:ext cx="2103120" cy="32918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353872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THDG — Delivery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MARCH 2026  ·  THEEB ECOSYSTEM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132588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waits, no continuity of care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telehealth with no follow-through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chronic disease floods specialist clinics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losses caused by preventable admissions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 covers the full care journey end-to-end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46120" y="2743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Healthcare Is Fragmented—And the Data Shows 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17556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234440"/>
            <a:ext cx="175564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196B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46704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healthcare spend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46704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outcomes remain fragmented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17556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1234440"/>
            <a:ext cx="175564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83–96%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49824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insurer loss ratios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9824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unmanaged chronic claims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60920" y="1234440"/>
            <a:ext cx="17556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1234440"/>
            <a:ext cx="175564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5784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$19.4B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15784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obesity &amp; diabetes cost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15784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chronic disease management at scale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3337560"/>
            <a:ext cx="5669280" cy="65836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83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is privatising 2,300 primary health centres. The infrastructure to absorb them does not yet exist.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4169664"/>
            <a:ext cx="2423160" cy="621792"/>
          </a:xfrm>
          <a:prstGeom prst="rect">
            <a:avLst/>
          </a:prstGeom>
          <a:solidFill>
            <a:srgbClr val="EEF2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22452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PHCs being privatised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4169664"/>
            <a:ext cx="2423160" cy="621792"/>
          </a:xfrm>
          <a:prstGeom prst="rect">
            <a:avLst/>
          </a:prstGeom>
          <a:solidFill>
            <a:srgbClr val="EEF2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422452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CME credits/year mandatory for all HCPs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Theeb Ecosystem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specialised companies  ·  3 strategic groups  ·  one coordinated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261872"/>
            <a:ext cx="2834640" cy="3611880"/>
          </a:xfrm>
          <a:prstGeom prst="rect">
            <a:avLst/>
          </a:prstGeom>
          <a:solidFill>
            <a:srgbClr val="1B3770"/>
          </a:solidFill>
          <a:ln w="19050">
            <a:solidFill>
              <a:srgbClr val="2A52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61872"/>
            <a:ext cx="2834640" cy="45720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64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Theeb Knowledge Group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560320" cy="0"/>
          </a:xfrm>
          <a:prstGeom prst="line">
            <a:avLst/>
          </a:prstGeom>
          <a:noFill/>
          <a:ln w="6350">
            <a:solidFill>
              <a:srgbClr val="2A529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2514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Waraqa Publishing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Nama CRO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82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Nama Academy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6667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Nama Bioequivalence Center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050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Evidence Platform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261872"/>
            <a:ext cx="2834640" cy="3611880"/>
          </a:xfrm>
          <a:prstGeom prst="rect">
            <a:avLst/>
          </a:prstGeom>
          <a:solidFill>
            <a:srgbClr val="0B3D50"/>
          </a:solidFill>
          <a:ln w="19050">
            <a:solidFill>
              <a:srgbClr val="0D8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261872"/>
            <a:ext cx="2834640" cy="457200"/>
          </a:xfrm>
          <a:prstGeom prst="rect">
            <a:avLst/>
          </a:prstGeom>
          <a:solidFill>
            <a:srgbClr val="0D8FA8"/>
          </a:solidFill>
          <a:ln w="12700">
            <a:solidFill>
              <a:srgbClr val="0D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80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37560" y="1764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Theeb Value Group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intelligence 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423160"/>
            <a:ext cx="2560320" cy="0"/>
          </a:xfrm>
          <a:prstGeom prst="line">
            <a:avLst/>
          </a:prstGeom>
          <a:noFill/>
          <a:ln w="6350">
            <a:solidFill>
              <a:srgbClr val="0D8FA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83280" y="2514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 RCM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MGA Company (Nexus)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3282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VBH Company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261872"/>
            <a:ext cx="2834640" cy="3611880"/>
          </a:xfrm>
          <a:prstGeom prst="rect">
            <a:avLst/>
          </a:prstGeom>
          <a:solidFill>
            <a:srgbClr val="3A180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261872"/>
            <a:ext cx="28346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280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THDG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55080" y="1764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Theeb Health Delivery Group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patient-facing delivery layer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423160"/>
            <a:ext cx="256032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400800" y="2514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Welunion (flagship)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Integrative Health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282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TAP Pharmacy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36667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Clinical Ventures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pharma company can hire a research organisation. They cannot hire an entire ecosystem.”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 — THEEB KNOWLEDGE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 Engine of Saudi Healthcare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536192"/>
            <a:ext cx="168249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536192"/>
            <a:ext cx="1682496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563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" y="19659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Waraqa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56032" y="2432304"/>
            <a:ext cx="1499616" cy="0"/>
          </a:xfrm>
          <a:prstGeom prst="line">
            <a:avLst/>
          </a:prstGeom>
          <a:noFill/>
          <a:ln w="9525">
            <a:solidFill>
              <a:srgbClr val="DD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87168"/>
            <a:ext cx="15727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publishing · peer-reviewed journals · clinical guidelines for 80+ scientific societies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01952" y="1536192"/>
            <a:ext cx="168249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01952" y="1536192"/>
            <a:ext cx="1682496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75104" y="1563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TKG-02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75104" y="19659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CRO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975104" y="2432304"/>
            <a:ext cx="1499616" cy="0"/>
          </a:xfrm>
          <a:prstGeom prst="line">
            <a:avLst/>
          </a:prstGeom>
          <a:noFill/>
          <a:ln w="9525">
            <a:solidFill>
              <a:srgbClr val="DD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2487168"/>
            <a:ext cx="15727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research org · Phase I–IV trials · real-world evidence studies · biostatistics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21024" y="1536192"/>
            <a:ext cx="168249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21024" y="1536192"/>
            <a:ext cx="1682496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1563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TKG-03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94176" y="19659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Academy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94176" y="2432304"/>
            <a:ext cx="1499616" cy="0"/>
          </a:xfrm>
          <a:prstGeom prst="line">
            <a:avLst/>
          </a:prstGeom>
          <a:noFill/>
          <a:ln w="9525">
            <a:solidFill>
              <a:srgbClr val="DD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2487168"/>
            <a:ext cx="15727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CME/CPD delivery · BLS ACLS ATLS · SCFHS accredited · simulation · MGA insurance bundle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0096" y="1536192"/>
            <a:ext cx="168249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0096" y="1536192"/>
            <a:ext cx="1682496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1563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TKG-04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13248" y="19659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Bio Center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13248" y="2432304"/>
            <a:ext cx="1499616" cy="0"/>
          </a:xfrm>
          <a:prstGeom prst="line">
            <a:avLst/>
          </a:prstGeom>
          <a:noFill/>
          <a:ln w="9525">
            <a:solidFill>
              <a:srgbClr val="DD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2487168"/>
            <a:ext cx="15727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 studies · SFDA-regulated · pharmaceutical research services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59168" y="1536192"/>
            <a:ext cx="168249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59168" y="1536192"/>
            <a:ext cx="1682496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1563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TKG-05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196596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Platform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132320" y="2432304"/>
            <a:ext cx="1499616" cy="0"/>
          </a:xfrm>
          <a:prstGeom prst="line">
            <a:avLst/>
          </a:prstGeom>
          <a:noFill/>
          <a:ln w="9525">
            <a:solidFill>
              <a:srgbClr val="DD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487168"/>
            <a:ext cx="15727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clinical knowledge hub · CME tracking · decision support · real-world data analytics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4828032"/>
            <a:ext cx="8778240" cy="237744"/>
          </a:xfrm>
          <a:prstGeom prst="rect">
            <a:avLst/>
          </a:prstGeom>
          <a:solidFill>
            <a:srgbClr val="EEF2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SCFHS accreditation  ·  professor-led platforms  ·  80+ society relationships  ·  Saudi Arabia’s only integrated scientific infrastructure owner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TVG — THEEB VALUE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Arabia’s First Complete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Value-Based Healthcare Financial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0" y="1298448"/>
            <a:ext cx="4663440" cy="713232"/>
          </a:xfrm>
          <a:prstGeom prst="rect">
            <a:avLst/>
          </a:prstGeom>
          <a:solidFill>
            <a:srgbClr val="0C5C68"/>
          </a:solidFill>
          <a:ln w="9525">
            <a:solidFill>
              <a:srgbClr val="0D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1335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3441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CONTRACTING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payments · Shared savings · Value-based procurement · VBP contracts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06240" y="2066544"/>
            <a:ext cx="4663440" cy="713232"/>
          </a:xfrm>
          <a:prstGeom prst="rect">
            <a:avLst/>
          </a:prstGeom>
          <a:solidFill>
            <a:srgbClr val="0A4A55"/>
          </a:solidFill>
          <a:ln w="9525">
            <a:solidFill>
              <a:srgbClr val="0D8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12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INTELLIGENCE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4140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PROMs · Cost-of-care analytics · Population health · AR-DRG modelling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549640" y="2157984"/>
            <a:ext cx="73152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834640"/>
            <a:ext cx="4663440" cy="713232"/>
          </a:xfrm>
          <a:prstGeom prst="rect">
            <a:avLst/>
          </a:prstGeom>
          <a:solidFill>
            <a:srgbClr val="083840"/>
          </a:solidFill>
          <a:ln w="9525">
            <a:solidFill>
              <a:srgbClr val="0D8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871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880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INFRASTRUCTURE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1821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product design · Underwriting analytics · Malpractice + CME bundle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49640" y="2926080"/>
            <a:ext cx="73152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3602736"/>
            <a:ext cx="4663440" cy="713232"/>
          </a:xfrm>
          <a:prstGeom prst="rect">
            <a:avLst/>
          </a:prstGeom>
          <a:solidFill>
            <a:srgbClr val="062830"/>
          </a:solidFill>
          <a:ln w="9525">
            <a:solidFill>
              <a:srgbClr val="0D8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639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9502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 · AI-assisted coding · Claims management · AR-DRG readiness for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49640" y="3694176"/>
            <a:ext cx="73152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41648" y="4279392"/>
            <a:ext cx="0" cy="-2926080"/>
          </a:xfrm>
          <a:prstGeom prst="line">
            <a:avLst/>
          </a:prstGeom>
          <a:noFill/>
          <a:ln w="19050">
            <a:solidFill>
              <a:srgbClr val="C9A84C"/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 rot="16200000">
            <a:off x="3291840" y="2651760"/>
            <a:ext cx="685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UP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874520"/>
            <a:ext cx="3474720" cy="256032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993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Intelligence 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2377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TVG companies share one data stack—claims, costs, outcomes, risk models. Each layer makes the others more powerful. The moat grows with every claim processed.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ratios at 83–96%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712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AR-DRG arriving in 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signal is structural. The solution is TVG.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984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914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THDG — THEEB HEALTH DELIVERY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Welunion — Saudi Arabia’s Integrated Healthcare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834640" cy="1325880"/>
          </a:xfrm>
          <a:prstGeom prst="rect">
            <a:avLst/>
          </a:prstGeom>
          <a:solidFill>
            <a:srgbClr val="1B3D8C"/>
          </a:solidFill>
          <a:ln w="508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15727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WellTech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· Patient app · Telemedicine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tools · FHIR integration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834640" cy="1325880"/>
          </a:xfrm>
          <a:prstGeom prst="rect">
            <a:avLst/>
          </a:prstGeom>
          <a:solidFill>
            <a:srgbClr val="0D6E7A"/>
          </a:solidFill>
          <a:ln w="508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7276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58768" y="15727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WellCare MSO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9933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licenses · Insurance credentialing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Compliance · Shared services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834640" cy="1325880"/>
          </a:xfrm>
          <a:prstGeom prst="rect">
            <a:avLst/>
          </a:prstGeom>
          <a:solidFill>
            <a:srgbClr val="6B3A00"/>
          </a:solidFill>
          <a:ln w="508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57276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0568" y="15727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WellClinics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9933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clinics by Y5 · 7 revenue divisions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virtual + home care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Revenue Divisions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291840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291840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04872" y="3291840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04872" y="3291840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81144" y="3291840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1144" y="3291840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Care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57416" y="3291840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7416" y="3291840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712464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712464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04872" y="3712464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04872" y="3712464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32888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Health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81144" y="3712464"/>
            <a:ext cx="20848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81144" y="3712464"/>
            <a:ext cx="45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Doula Program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26480" y="29077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2907792"/>
            <a:ext cx="4572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9443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479M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89520" y="29992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3649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26480" y="3364992"/>
            <a:ext cx="4572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34015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~42%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89520" y="3456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26480" y="38221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26480" y="3822192"/>
            <a:ext cx="4572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38587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Months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89520" y="3913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Breakeven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26480" y="42793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26480" y="4279392"/>
            <a:ext cx="4572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43159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500K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89520" y="4370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Clinic Build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47365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26480" y="4736592"/>
            <a:ext cx="45720" cy="40233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47731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589520" y="4828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EBITDA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PRINCIPLE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Client. Multiple Companies. One Integrated Output.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pharmaceutical company wants to launch a drug in Saudi Arabia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816352" cy="1188720"/>
          </a:xfrm>
          <a:prstGeom prst="rect">
            <a:avLst/>
          </a:prstGeom>
          <a:solidFill>
            <a:srgbClr val="1B3770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475488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4708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CRO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run the clinical trial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828800"/>
            <a:ext cx="2816352" cy="1188720"/>
          </a:xfrm>
          <a:prstGeom prst="rect">
            <a:avLst/>
          </a:prstGeom>
          <a:solidFill>
            <a:srgbClr val="1B3770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828800"/>
            <a:ext cx="475488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84708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0128" y="21031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48716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analysis &amp; knowledge graph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816352" cy="1188720"/>
          </a:xfrm>
          <a:prstGeom prst="rect">
            <a:avLst/>
          </a:prstGeom>
          <a:solidFill>
            <a:srgbClr val="1B3770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828800"/>
            <a:ext cx="475488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84708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54496" y="21031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Waraqa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248716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results in peer-reviewed journals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2816352" cy="1188720"/>
          </a:xfrm>
          <a:prstGeom prst="rect">
            <a:avLst/>
          </a:prstGeom>
          <a:solidFill>
            <a:srgbClr val="1B3770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127248"/>
            <a:ext cx="475488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455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Academy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78561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physicians with accredited CME courses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18688" y="3127248"/>
            <a:ext cx="2816352" cy="1188720"/>
          </a:xfrm>
          <a:prstGeom prst="rect">
            <a:avLst/>
          </a:prstGeom>
          <a:solidFill>
            <a:srgbClr val="4A2000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3127248"/>
            <a:ext cx="475488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31455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10128" y="34015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Welunion Clinics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78561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drug &amp; collect real-world data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3127248"/>
            <a:ext cx="2816352" cy="1188720"/>
          </a:xfrm>
          <a:prstGeom prst="rect">
            <a:avLst/>
          </a:prstGeom>
          <a:solidFill>
            <a:srgbClr val="0A3E50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3127248"/>
            <a:ext cx="475488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31455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54496" y="34015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VBH Company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378561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cost-effectiveness to insurers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9A84C">
              <a:alpha val="14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8970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entity manages the client. Revenue is pre-agreed. Each company invoices for its scope. The client receives one integrated output no single company could deliver.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560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92608" y="822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SCIENTIFIC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SOCIETIES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17190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Saudi medical societies.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operational burden.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Partnership, not client.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2608" y="2578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2926080"/>
            <a:ext cx="3246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A5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revenue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2980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Society: 40–60%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3364992"/>
            <a:ext cx="3246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A5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revenue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Society: 40–50%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3803904"/>
            <a:ext cx="32461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A5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income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Society: Agreed split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05072" y="256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Society Gets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005072" y="804672"/>
            <a:ext cx="384048" cy="38404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8848" y="82296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journal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98848" y="10607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and operated by Waraqa—editorial, hosting, indexing, distribution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05072" y="1609344"/>
            <a:ext cx="384048" cy="38404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16276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digital platform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98848" y="18653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SCFHS-accredited courses on Evidence Platform—digital, trackable, scalable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05072" y="2414016"/>
            <a:ext cx="384048" cy="38404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243230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98848" y="26700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experts become Nama CRO principal investigators—earning and publishing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05072" y="3218688"/>
            <a:ext cx="384048" cy="38404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8848" y="32369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infrastructure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98848" y="3474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Academy co-organises accredited conferences under the society’s own brand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05072" y="4023360"/>
            <a:ext cx="384048" cy="38404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0507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98848" y="40416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 SCFHS rating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498848" y="4279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Category C (320 pts) to Category A (1,150+ pts)—zero cost to the society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05072" y="4800600"/>
            <a:ext cx="4937760" cy="2743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48188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80+ societies  ·  SCFHS requires 30 CME credits/year for every licensed health professional in Saudi Arabia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CANNOT BE REPLICATED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combination is the moat.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463040"/>
            <a:ext cx="274320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463040"/>
            <a:ext cx="347472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of Relationship Capital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Professor-led entities with direct access to 80+ scientific societies, hospital medical directors, and Saudi regulatory bodies. Relationships are earned, not purchased.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74320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463040"/>
            <a:ext cx="347472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Independent Credible Companies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901952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has its own licence, track record, and standalone revenue. Any one of them wins business alone. Together they create propositions competitors simply cannot match.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1463040"/>
            <a:ext cx="2743200" cy="155448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463040"/>
            <a:ext cx="347472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56248" y="1508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Intelligence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901952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data, outcomes, prescriptions, and patient records—all feeding one analytics engine. The data moat compounds with every patient interaction.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218688"/>
            <a:ext cx="4114800" cy="16916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218688"/>
            <a:ext cx="347472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Four-Layer Financial Stack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657600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Saudi competitor is building RCM + MGA + outcomes measurement + value-based contracts simultaneously. TVG is four companies’ worth of capability in one group.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3218688"/>
            <a:ext cx="4114800" cy="169164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3218688"/>
            <a:ext cx="347472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0056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Ecosystem, Not a Company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0016" y="3657600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compete with Theeb you must build 11 companies, align them, make each independently credible, and orchestrate them seamlessly. That takes years. The window is closed.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23960" y="4892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Ecosystem Is Built.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Timing Is Perfect.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Is Saudi Arabia.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92608" y="2212848"/>
            <a:ext cx="2816352" cy="242316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2212848"/>
            <a:ext cx="28163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304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336" y="27066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2030 Privatisation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312724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primary health centres being transferred from MOH to the private sector. Welunion is the only fully integrated platform positioned to absorb them at scale.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6976" y="2212848"/>
            <a:ext cx="2816352" cy="242316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2212848"/>
            <a:ext cx="28163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2304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46704" y="27066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AR-DRG Implementation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6704" y="312724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is implementing the Australian-Refined DRG payment system. Every hospital needs a readiness partner. Integra RCM is that partner—already aligned to the new framework.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2212848"/>
            <a:ext cx="2816352" cy="242316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3A5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2212848"/>
            <a:ext cx="28163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304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91072" y="27066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Insurer Crisis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3127248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ratios at 83–96% mean fee-for-service is unsustainable. Value-based contracts are not optional—they are coming. TVG is the only Saudi company built to enable them end-to-end.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681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THEEB ECOSYSTEM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937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March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32520" y="48920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7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Theeb Ecosystem</dc:title>
  <dc:subject>PptxGenJS Presentation</dc:subject>
  <dc:creator>Theeb Ecosystem</dc:creator>
  <cp:lastModifiedBy>Theeb Ecosystem</cp:lastModifiedBy>
  <cp:revision>1</cp:revision>
  <dcterms:created xsi:type="dcterms:W3CDTF">2026-03-15T08:44:33Z</dcterms:created>
  <dcterms:modified xsi:type="dcterms:W3CDTF">2026-03-15T08:44:33Z</dcterms:modified>
</cp:coreProperties>
</file>