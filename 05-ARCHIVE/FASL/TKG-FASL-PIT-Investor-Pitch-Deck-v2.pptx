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Clinical Intelligence Infrastructure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828800" cy="274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DNA of clinical self-sufficiency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healthcare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Years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built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knowledge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THEEB Group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STARTUP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FASL is the final catalyst in a 7-year ecosystem built deliberately.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280160" cy="1463040"/>
          </a:xfrm>
          <a:prstGeom prst="rect">
            <a:avLst/>
          </a:prstGeom>
          <a:solidFill>
            <a:srgbClr val="1B6B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65376" y="1554480"/>
            <a:ext cx="1280160" cy="1463040"/>
          </a:xfrm>
          <a:prstGeom prst="rect">
            <a:avLst/>
          </a:prstGeom>
          <a:solidFill>
            <a:srgbClr val="1B6B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65376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56816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554480"/>
            <a:ext cx="1280160" cy="1463040"/>
          </a:xfrm>
          <a:prstGeom prst="rect">
            <a:avLst/>
          </a:prstGeom>
          <a:solidFill>
            <a:srgbClr val="1B6B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IH-VAS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1554480"/>
            <a:ext cx="1280160" cy="1463040"/>
          </a:xfrm>
          <a:prstGeom prst="rect">
            <a:avLst/>
          </a:prstGeom>
          <a:solidFill>
            <a:srgbClr val="1B6B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3168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1280160" cy="1463040"/>
          </a:xfrm>
          <a:prstGeom prst="rect">
            <a:avLst/>
          </a:prstGeom>
          <a:solidFill>
            <a:srgbClr val="0F4C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9904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1344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CRO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 Center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554480"/>
            <a:ext cx="1280160" cy="1737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3200400"/>
            <a:ext cx="70408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31520" y="356616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566160"/>
            <a:ext cx="54864" cy="1188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6576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was purpose-built before FASL existed.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institute provides physician access. The publisher provides credibility. The CRO provides research execution. The BioEq center provides drug localization. FASL connects them into a single compounding data flywheel.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 Imports Its Clinical Knowledge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healthcare spend — largest in MENA.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100% of clinical evidence is imported.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4114800" cy="96012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1554480"/>
            <a:ext cx="45720" cy="9601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Mismatch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901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decisions rely on UpToDate and DynaMed — built on Western populations. Saudi genetics, disease patterns, and formularies are ignored.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2651760"/>
            <a:ext cx="4114800" cy="96012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651760"/>
            <a:ext cx="45720" cy="9601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Leakage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999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physicians make daily decisions with zero systematic capture. Every clinical insight is generated and lost.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3749040"/>
            <a:ext cx="4114800" cy="96012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3749040"/>
            <a:ext cx="45720" cy="9601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Fragmentation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0965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research independently. No unified data layer. Drug localization depends entirely on foreign CROs.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994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is a clinical knowledge importer, not a producer. This is both a strategic vulnerability and an unprecedented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Infrastructure, Not Software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FASL integrates medical education, evidence synthesis, research infrastructure, and scientific publishing into one compounding data flywheel. Useful from Day 1 with 35M+ global citations. Progressively localized as Saudi evidence accumulates.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2468880" cy="457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Utility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35M+ PubMed citations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 Cochrane reviews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WHO guidelines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AI evidence engine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SCFHS-accredited CME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286000"/>
            <a:ext cx="2468880" cy="457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1-3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clinical guidelines emerge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journals launch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EMR integration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gaps drive research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clinical trials initiated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286000"/>
            <a:ext cx="2468880" cy="45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Sovereignty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locally validated graph nodes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evidence as primary reference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disease registries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expansion begins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to government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Components, One Knowledge 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21031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828800" cy="3657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14630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463040"/>
            <a:ext cx="1828800" cy="3657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572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&amp; Training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Entry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1828800" cy="36576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01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329184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3291840"/>
            <a:ext cx="1828800" cy="36576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401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+ SMO + CTU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4251960"/>
            <a:ext cx="1828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4251960"/>
            <a:ext cx="1828800" cy="3657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4315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Bio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4544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 &amp; Drug Localization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DATA FLYWHEEL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Cycle Makes Replication Exponentially Harder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asks clinical question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global + local evidence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 detected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launched (NAMA Medical)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from hospitals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 publishes findings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updated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physician gets better answer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325880"/>
            <a:ext cx="365760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B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Exponential Compounding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physicians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questions answered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physicians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 questions · 50 evidence gaps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physicians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questions/mo · 50+ trials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physicians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questions · National standard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 Velocity at Month 36: 72 new clinical trials per month  |  Competitor needs 5-10 years to reach Year 1 data density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Assets, Not a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solidFill>
            <a:srgbClr val="ED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1280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Ri'aya Contract  [TO VALIDATE]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replicable blueprint for hospital-scale clinical intelligence deployment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17520"/>
            <a:ext cx="2468880" cy="457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Network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SCFHS-accredited training institute alumni. Active physician distribution channel operating today.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301752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0" y="3017520"/>
            <a:ext cx="2468880" cy="4572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Years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11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Trust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with SCFHS, SFDA, and MOH. Board-certified clinical faculty. 15+ hospital partnerships.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017520"/>
            <a:ext cx="2468880" cy="45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Entities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Ecosystem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(2018), RCM (2020), MSO (2022), SMO+CTU (2024), Training + CRO + BioEq (2025).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Revenue Streams · 86% CAGR · Path to 75% Gross Margin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529584"/>
            <a:ext cx="731520" cy="40233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55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3090672"/>
            <a:ext cx="731520" cy="8412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816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212848"/>
            <a:ext cx="731520" cy="171907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38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$23.5M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731520" cy="2286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731520" cy="2743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914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$79.5M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 Mix: $79.5M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1737360"/>
            <a:ext cx="164592" cy="16459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(SCII)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(31%)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2121408"/>
            <a:ext cx="164592" cy="164592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2075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(NAMA Medical)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2075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 (23%)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2505456"/>
            <a:ext cx="164592" cy="164592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24597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Education (NAMA Knowledge)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24597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(15%)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2889504"/>
            <a:ext cx="164592" cy="164592"/>
          </a:xfrm>
          <a:prstGeom prst="ellipse">
            <a:avLst/>
          </a:prstGeom>
          <a:solidFill>
            <a:srgbClr val="3D8B7A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2843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 (NAMA Bio)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28437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$11.5M (14%)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3273552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3227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3227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$9M (11%)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3657600"/>
            <a:ext cx="164592" cy="164592"/>
          </a:xfrm>
          <a:prstGeom prst="ellipse">
            <a:avLst/>
          </a:prstGeom>
          <a:solidFill>
            <a:srgbClr val="D4A855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(WARAQA)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 (5%)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Trajectory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459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6576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66928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68096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7+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Structural Moats · 5-7 Years to Parity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160020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3-5yr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Network Effects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physician increases data richness 8-10x. By Month 36, a new entrant needs 3-5 years to reach Year 1 density. 25K physicians generating 500K+ questions/month.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54864" cy="160020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ACV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using FASL for evidence + trials + education must replace 3 integrated systems simultaneously. $50K-$150K switching cost per hospital. 2+ years of data lock-in.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54864" cy="160020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5-7yr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replicate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202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611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 accreditation: 2-3 years. SFDA trial approval: 1-2 years. NDMO license: 1-2 years. Total compliance cost for a new entrant: $2M-$5M and 5-7 years.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3657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00400"/>
            <a:ext cx="54864" cy="160020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20yr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3776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built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Distribution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3611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direct physician relationships. 15+ hospital partnerships. 20-year regulatory track record. Board-certified clinical faculty credibility no tech company can purchase.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Assessment Builds Investor Trust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5486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Physician adoption slower than projected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search embedded in CME courses; 40% conversion rate from BLS graduates; CME credit incentives; WhatsApp community engagement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EMR integration delays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FHIR-ready hospitals; parallel RWD simulator; dedicated health IT engineer; pilot with friendly institutions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changes (SCFHS/SFDA/NDMO)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board with regulatory insiders; compliance team from Day 1; proactive SFDA engagement; multiple accreditation tracks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competitor enters Saudi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moat compounds every quarter; 3-5yr head start; Arabic-first AI (no competitor offers this); sovereign data positioning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 dependency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FASL Academy for talent pipeline; competitive equity participation; hire COO + CTO by Month 3; document all institutional relationships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Probability  |  I = Impact  |  L = Low  |  M = Medium  |  H = High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Rounds to IPO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6400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15M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755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60-75M pre-money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Tech MVP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Core Team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Institute Integration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Operations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36118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Milestones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physicians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 pilots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2M ARR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417320"/>
            <a:ext cx="2697480" cy="6400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1755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1488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250-350M pre-money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331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2606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Product Expansion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Clinical Trials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Publishing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Market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Milestones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0" y="37947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physicians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hospital contracts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20M ARR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41732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417320"/>
            <a:ext cx="26974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150M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0" y="1755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1488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1-1.5B pre-money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2331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Q1-Q2 2029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2606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GCC Expansion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NAMA Bio Center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Tech at Scale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Gov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Reserve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5080" y="36118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Milestones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5080" y="37947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25K+ physicians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pilot: 100+ hospitals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partnership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IPO on Tadawul · Year 7-8 · SAR 5-8B valuation (15-20x revenue)  |  Seed investor returns: 8-12x MOIC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Intelligence as National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1B+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554480" cy="1828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0-1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005840" cy="182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physicians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3 hospital pilots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2606040"/>
            <a:ext cx="1554480" cy="1828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214884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1-3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23160" y="3246120"/>
            <a:ext cx="1005840" cy="182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224028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physicians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 · 5 trials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0" y="2606040"/>
            <a:ext cx="1554480" cy="1828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3-5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0" y="3246120"/>
            <a:ext cx="1005840" cy="182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physicians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graph nodes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2606040"/>
            <a:ext cx="1554480" cy="1828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5-7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3246120"/>
            <a:ext cx="1005840" cy="182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physicians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· $100M+ rev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2606040"/>
            <a:ext cx="1554480" cy="1828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7-10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3246120"/>
            <a:ext cx="1005840" cy="182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3337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AI licensed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10+ nations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2035, every clinical decision in Saudi Arabia is informed by locally generated, AI-powered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— SAR 15M (~$4M)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6M · 40%  —  Technology MVP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 engine · Knowledge Graph v1 · CME integration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4.5M · 30%  —  Core Team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VP Engineering · 6 engineers · Medical Director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2.25M · 15%  —  Institute Integration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onboarding · data collection infrastructure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2.25M · 15%  —  Operations &amp; Legal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· compliance · regulatory setup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· Why FASL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21488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assets TODAY — not a roadmap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alignment makes government support highly probable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in a market worth billions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monopoly dynamics via the Knowledge Data Flywheel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ecosystem foundation already built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7680960" cy="274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  (فصل)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Theeb  |  theeb@theeb.studio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FASL – Saudi Clinical Intelligence Infrastructure</dc:title>
  <dc:subject>PptxGenJS Presentation</dc:subject>
  <dc:creator>Theeb</dc:creator>
  <cp:lastModifiedBy>Theeb</cp:lastModifiedBy>
  <cp:revision>1</cp:revision>
  <dcterms:created xsi:type="dcterms:W3CDTF">2026-03-08T21:45:53Z</dcterms:created>
  <dcterms:modified xsi:type="dcterms:W3CDTF">2026-03-08T21:45:53Z</dcterms:modified>
</cp:coreProperties>
</file>