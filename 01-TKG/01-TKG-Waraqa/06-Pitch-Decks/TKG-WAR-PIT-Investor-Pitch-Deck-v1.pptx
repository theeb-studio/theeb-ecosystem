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WARAQA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| Confidential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Gap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&lt;2% of global research published from MENA region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6949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sovereign evidence infrastructure exists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knowledge generated locally is published internationally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remains dispersed across incompatible systems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does not translate into policy or practice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informs neither workforce training nor therapeutic localization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WARAQA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Sovereign Evidence &amp; Publishing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2018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orchestration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authority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localization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Elsevier / Springer Nature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 spanning the entire clinical knowledge lifecycle: data generation → synthesis → validation → publication → education → policy → therapeutic application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Publishing &amp; Clinical Evidence Infrastructure Market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468880" cy="1645920"/>
          </a:xfrm>
          <a:prstGeom prst="rect">
            <a:avLst/>
          </a:prstGeom>
          <a:solidFill>
            <a:srgbClr val="006B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$120B+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(TAM)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468880" cy="1645920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$18.3M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6616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(SAM)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2468880" cy="1645920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783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(Y5 Target)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regional demand for sovereign clinical evidence infrastructure with expanding international opportunities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Record &amp; Partnerships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Execution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Publications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Research Projects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2018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Expert Team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Partners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Clarivate Analytics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ProQuest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/ Scopus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SciFinder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Figshare &amp; Kotahi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&amp; OpenAI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Model: 6 Revenue Streams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325880" cy="164592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Hosting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1188720"/>
            <a:ext cx="1325880" cy="1645920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14630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11680" y="201168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 (Article Processing)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1325880" cy="1645920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4630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Synthesis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188720"/>
            <a:ext cx="1325880" cy="1645920"/>
          </a:xfrm>
          <a:prstGeom prst="rect">
            <a:avLst/>
          </a:prstGeom>
          <a:solidFill>
            <a:srgbClr val="00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4630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46320" y="201168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 Services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1325880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4630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201168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Registry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35240" y="1188720"/>
            <a:ext cx="1325880" cy="1645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14630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680960" y="201168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Licensing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017520"/>
            <a:ext cx="8046720" cy="12801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revenue model reduces dependency on single source • Multiple customer segments (publishers, researchers, institutions) • Cross-selling opportunities across segments • 67% gross margins provide sustainable economics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AI-Powered Knowledge Orchestration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Technology Stack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377440" cy="27432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Kotahi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Figshare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1554480"/>
            <a:ext cx="2377440" cy="27432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Analytics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210312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1554480"/>
            <a:ext cx="2377440" cy="27432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0" y="210312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Trajectory: 10-Year Path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Startup to Market Leader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920240" cy="201168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EBITDA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2560320"/>
            <a:ext cx="457200" cy="137160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1554480"/>
            <a:ext cx="1920240" cy="2011680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Revenue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$24M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5760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EBITDA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20x Revenue Growth | 67% Gross Margins | EBITDA Positive Year 1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 Powerful Leverage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Employee Improvement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2763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6276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0" y="162763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employees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219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2219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222199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employees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163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8163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28163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employees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107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4107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$438K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3410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employees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0507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40050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40050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employees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productivity improvement • Revenue growth 20x vs headcount growth 5x • Platform scalability demonstrated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Strategy: Incredibly Capital-Efficient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Capital Required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(Y1): $1.0M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Development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(Y2): $1.5M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Regional Expansion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Profile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Positive: Year 1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Positive: Year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Period: 2-3 years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projections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&amp; Returns: Exceptional Opportunity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Valuation Scenarios (8x-10x EBITDA Multiple)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560320" cy="2286000"/>
          </a:xfrm>
          <a:prstGeom prst="rect">
            <a:avLst/>
          </a:prstGeom>
          <a:solidFill>
            <a:srgbClr val="006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$82.6M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560320" cy="2286000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$92.9M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6616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560320" cy="2286000"/>
          </a:xfrm>
          <a:prstGeom prst="rect">
            <a:avLst/>
          </a:prstGeom>
          <a:solidFill>
            <a:srgbClr val="F7B801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$103.2M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$2.5M Investment: 33x - 41x | IRR: 100%+ to 150%+ annually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Team: Deep Healthcare Expertise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828800" cy="3200400"/>
          </a:xfrm>
          <a:prstGeom prst="rect">
            <a:avLst/>
          </a:prstGeom>
          <a:solidFill>
            <a:srgbClr val="E3F2F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1828800" cy="3657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MD, MBE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Theeb Ayed Alkahtani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expert team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projects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publications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4640" y="1188720"/>
            <a:ext cx="1828800" cy="3200400"/>
          </a:xfrm>
          <a:prstGeom prst="rect">
            <a:avLst/>
          </a:prstGeom>
          <a:solidFill>
            <a:srgbClr val="E3F2F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1188720"/>
            <a:ext cx="1828800" cy="3657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BPharm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17373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Marwa Adel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2606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32918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expert team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projects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publications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0" y="1188720"/>
            <a:ext cx="1828800" cy="3200400"/>
          </a:xfrm>
          <a:prstGeom prst="rect">
            <a:avLst/>
          </a:prstGeom>
          <a:solidFill>
            <a:srgbClr val="E3F2F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188720"/>
            <a:ext cx="1828800" cy="3657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MD, MSc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17373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Raed Ibrahim Al Tulayhi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606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32918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expert team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projects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publications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06640" y="1188720"/>
            <a:ext cx="1828800" cy="3200400"/>
          </a:xfrm>
          <a:prstGeom prst="rect">
            <a:avLst/>
          </a:prstGeom>
          <a:solidFill>
            <a:srgbClr val="E3F2F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1188720"/>
            <a:ext cx="1828800" cy="36576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1234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BPharm, MSc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0" y="17373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Hussein Fathy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0" y="2606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Manager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0" y="32918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expert team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projects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publications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3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Infrastructure Play in Healthcare Digital Transformation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sovereign evidence infrastructure platform for MENA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305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role within Saudi Clinical Intelligence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780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unit economics: 4x productivity growth, 67% gross margins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82549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profitability: EBITDA positive Year 1 with cash generation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1729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returns: 33x-41x on $2.5M investment over 5 years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 and switching costs create durable competitive moat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3B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Regional Evidence Infrastructure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828800" y="2926080"/>
            <a:ext cx="5486400" cy="1097280"/>
          </a:xfrm>
          <a:prstGeom prst="rect">
            <a:avLst/>
          </a:prstGeom>
          <a:solidFill>
            <a:srgbClr val="00A8A8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0" y="31089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creating sovereign healthcare intelligence for the MENA region and beyond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7B8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WARAQA | Confidential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WARAQA | Investor Presentation</dc:title>
  <dc:subject>PptxGenJS Presentation</dc:subject>
  <dc:creator>WARAQA Investment Team</dc:creator>
  <cp:lastModifiedBy>WARAQA Investment Team</cp:lastModifiedBy>
  <cp:revision>1</cp:revision>
  <dcterms:created xsi:type="dcterms:W3CDTF">2026-02-28T11:44:33Z</dcterms:created>
  <dcterms:modified xsi:type="dcterms:W3CDTF">2026-02-28T11:44:33Z</dcterms:modified>
</cp:coreProperties>
</file>