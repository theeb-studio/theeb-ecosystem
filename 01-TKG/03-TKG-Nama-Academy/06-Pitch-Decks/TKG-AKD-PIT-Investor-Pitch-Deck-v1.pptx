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KNOWLEDGE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Presentation | Confidential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0" y="2468880"/>
            <a:ext cx="3657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Education Infrastructure for the Middle East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2926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79552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Workforce Gap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350,000+ professionals need annual CME. 50,000+ additional workers needed by 2030.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79552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9456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Quality Gap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Arabic-language medical content. Inconsistent standardized training across institutions.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955280" cy="91440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918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Infrastructure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6118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platform for CME/CPD tracking. Fragmented compliance across healthcare system.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Overview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Independent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medical education company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SCFHS Accredited CME/CPD provider serving healthcare professionals across KSA and GCC region.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384048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88036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accredited medical university with international partnerships in clinical research education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350,000+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Market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20574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Mandate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846320" y="24231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Workers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31089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 → GCC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846320" y="3474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Scope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143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63040" y="14630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&amp; medical centers requiring CME compliance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37760" y="100584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0" y="11430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669280" y="1143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Organizations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0" y="14630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 &amp; SMOs needing specialized clinical training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Institutions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63040" y="29718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 &amp; medical schools expanding capacity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0" y="251460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20640" y="26517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66928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669280" y="297180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Pharma-sponsored training &amp; certification programs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Portfolio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10972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05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LMS (30%)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0972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CME (15%)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10972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0175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Programs (20%)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1005840"/>
            <a:ext cx="10972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0058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Pharma-Sponsored (20%)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2011680"/>
            <a:ext cx="10972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20116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Conference Programs (10%)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3017520"/>
            <a:ext cx="109728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30175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Programs (5%)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7955280" cy="7315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2519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revenue streams reduce dependency on single source. Multiple upsell opportunities across customer base.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Platform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79552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Core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2,000+ bilingual courses. SCFHS-integrated compliance tracking.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79552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2860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VR/AR Simulations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60604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clinical research simulations. Hands-on competency assessment.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79552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7472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Personalization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794760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paths. 25-35% retention improvement vs. standard e-learning.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Learning Infrastructure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Platform-as-a-Service model with institutional and individual licensing.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3840480" cy="14630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1460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Institutional subscriptions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Per-learner licensing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Pharma partnerships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Certification fees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Economics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4632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846320" y="18745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2377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0" y="26974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Y1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3200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35204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Y5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Trajectory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79552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573383"/>
            <a:ext cx="607162" cy="78377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880360"/>
            <a:ext cx="1517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78024" y="2442754"/>
            <a:ext cx="607162" cy="20900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2432304" y="2880360"/>
            <a:ext cx="1517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95928" y="2181497"/>
            <a:ext cx="607162" cy="470263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950208" y="2880360"/>
            <a:ext cx="1517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13832" y="1763486"/>
            <a:ext cx="607162" cy="88827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5468112" y="2880360"/>
            <a:ext cx="1517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31736" y="1188720"/>
            <a:ext cx="607162" cy="14630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986016" y="2880360"/>
            <a:ext cx="1517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108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$1.5M → $28M Revenue (Y1 → Y5) | 82% CAGR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7472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→ 46%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3931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Growth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$467K (Y5)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3931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Rev/Employee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Leverage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Headcount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 Headcount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6.7x Revenue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6x Growth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Employee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1554480"/>
            <a:ext cx="384048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0" y="16459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21945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743200"/>
            <a:ext cx="384048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0" y="283464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$601K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46320" y="3383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4x improvement in revenue per employee demonstrates strong platform scalability.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Strategy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7955280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051560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Capital Requirement: $1.0M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79552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Development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0" y="19202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platform, 200+ courses, initial traction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7955280" cy="128016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383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Growth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3383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3703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14400" y="39776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expansion, VR/AR, advanced features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&amp; Returns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256032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97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508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103x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$103M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$1M seed)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474720" y="1005840"/>
            <a:ext cx="2560320" cy="2377440"/>
          </a:xfrm>
          <a:prstGeom prst="rect">
            <a:avLst/>
          </a:prstGeom>
          <a:solidFill>
            <a:srgbClr val="0891B2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097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Case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1508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115.9x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66160" y="1920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2286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$115.9M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$1M seed)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56032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097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09360" y="1508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128.8x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09360" y="192024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22860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$128.8M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2560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 $1M seed)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" y="36576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Year 5 EBITDA of $12.88M with 8-10x EBITDA multiples typical for healthcare platforms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Vision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73152" cy="4114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795528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143000"/>
            <a:ext cx="7589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the Middle East as a regional center for clinical research excellence through comprehensive workforce development infrastructure and pathways to advanced medical education.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1945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Affiliated medical university partnerships for advanced degree programs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310896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97180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clinical research training expansion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7490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center of excellence across KSA and GCC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466344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52628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healthcare professional development platform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Thesis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5331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801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Infrastructure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52704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CME compliance for 350,000+ healthcare professionals creates recurring revenue foundation.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94767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7452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 Unit Economics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2140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gross margins with operating leverage driving EBITDA from 12% to 46% by Year 5.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54203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4688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Tailwind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71576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2030 targets 50,000+ additional healthcare professionals. Sovereign capability gap favors integrated solutions.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13639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0632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Efficient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31012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$1M required for path to $103-$128.8M valuation. Strong ROI with 103-128x returns on seed.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30752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657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Platform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90448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model with institutional and individual licensing enables rapid geographic expansion to GCC and internationally.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Knowledge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3200400" y="201168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Healthcare Education Infrastructure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foundation for clinical research excellence across the Middle East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 interested in infrastructure, healthcare tech, and Vision 2030 impact are invited to discuss partnership opportunities.
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Classification: CONFIDENTIAL - For Accredited Investors Only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NAMA Knowledge - Investor Presentation</dc:title>
  <dc:subject>PptxGenJS Presentation</dc:subject>
  <dc:creator>NAMA Knowledge</dc:creator>
  <cp:lastModifiedBy>NAMA Knowledge</cp:lastModifiedBy>
  <cp:revision>1</cp:revision>
  <dcterms:created xsi:type="dcterms:W3CDTF">2026-02-28T11:44:42Z</dcterms:created>
  <dcterms:modified xsi:type="dcterms:W3CDTF">2026-02-28T11:44:42Z</dcterms:modified>
</cp:coreProperties>
</file>