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A8B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  <c:pt idx="5">
                    <c:v>2031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2.7</c:v>
                </c:pt>
                <c:pt idx="1">
                  <c:v>4.5</c:v>
                </c:pt>
                <c:pt idx="2">
                  <c:v>6.9</c:v>
                </c:pt>
                <c:pt idx="3">
                  <c:v>9.7</c:v>
                </c:pt>
                <c:pt idx="4">
                  <c:v>12.9</c:v>
                </c:pt>
                <c:pt idx="5">
                  <c:v>15.7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 Margin (%)</c:v>
                </c:pt>
              </c:strCache>
            </c:strRef>
          </c:tx>
          <c:spPr>
            <a:solidFill>
              <a:srgbClr val="2563EB"/>
            </a:solidFill>
            <a:ln w="381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  <c:pt idx="5">
                    <c:v>2031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17.8</c:v>
                </c:pt>
                <c:pt idx="1">
                  <c:v>36.4</c:v>
                </c:pt>
                <c:pt idx="2">
                  <c:v>42.2</c:v>
                </c:pt>
                <c:pt idx="3">
                  <c:v>42.9</c:v>
                </c:pt>
                <c:pt idx="4">
                  <c:v>42.7</c:v>
                </c:pt>
                <c:pt idx="5">
                  <c:v>43.9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NAMA Bio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Presentation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D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A8B8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Saudi Arabia imports 80%+ of all medications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2,000+ generic drugs awaiting localization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domestic bioequivalence (BE) capacity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drug market: $3.37B → $5.32B (2024-2031)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2030 mandate: 40% local manufacturing by 2030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D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A8B8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3657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8B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80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NAMA Bio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sovereign life sciences company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SFDA-accredited bioequivalence center in Saudi Arabia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Partners: CARE Medical + KFSHRC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Co-branded: NAMA BIOxCARE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474720" cy="1645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1887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$3.37B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754880" y="17830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Drug Market (2024)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926080"/>
            <a:ext cx="3474720" cy="1645920"/>
          </a:xfrm>
          <a:prstGeom prst="rect">
            <a:avLst/>
          </a:prstGeom>
          <a:solidFill>
            <a:srgbClr val="0A8B8B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0175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$5.32B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54880" y="36118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Projection (2031)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D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Partnerships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A8B8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Medical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facilities &amp; infrastructure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volunteer populations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GCP-trained clinical staff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KFSHRC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Bioanalytical laboratory infrastructure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advisory services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relationships with SFDA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383280"/>
            <a:ext cx="768096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520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NAMA BIOxCARE: Co-branded partnership enabling rapid market entry with SFDA approval and zero standalone capex for clinical/bioanalytical infrastructure.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D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Facility &amp; Capabilities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A8B8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384048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8B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850m² Facility (Riyadh)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645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Completion: April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(2026): 24-bed unit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(2027-28): 48-bed expansion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(2029-30): 96+ bed capacity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840480" cy="3474720"/>
          </a:xfrm>
          <a:prstGeom prst="rect">
            <a:avLst/>
          </a:prstGeom>
          <a:solidFill>
            <a:srgbClr val="F5F7FA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Capabilities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LC-MS/MS platform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LIMS (Laboratory Info Management)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eCTD capabilities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EDC &amp; CDMS systems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Biostatistics &amp; PK/PD modeling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D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&amp; Pricing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A8B8B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2011680"/>
        </p:xfrm>
        <a:graphic>
          <a:graphicData uri="http://schemas.openxmlformats.org/drawingml/2006/table">
            <a:tbl>
              <a:tblPr/>
              <a:tblGrid>
                <a:gridCol w="3200400"/>
                <a:gridCol w="2011680"/>
                <a:gridCol w="24688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Service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Revenue Mix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Pricing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Bioequivalence Studies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$80-120K/study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Bioanalytical Services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$20-40K/method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Regulatory Support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$15-30K/guidance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Training &amp; Capability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$5-10K/program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" y="3749040"/>
            <a:ext cx="365760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794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Gross Margins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754880" y="3749040"/>
            <a:ext cx="3657600" cy="731520"/>
          </a:xfrm>
          <a:prstGeom prst="rect">
            <a:avLst/>
          </a:prstGeom>
          <a:solidFill>
            <a:srgbClr val="0A8B8B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794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Capital-Light Model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D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Trajectory (2026-2031)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A8B8B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731520" y="1097280"/>
          <a:ext cx="82296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 Revenue CAGR  |  17.8% → 43.9% EBITDA Margin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D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&amp; Margin Trajectory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A8B8B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731520" y="1097280"/>
          <a:ext cx="82296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stabilizes at 42-44% by Year 3 | Profitable from Year 1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D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Moat &amp; Defensibility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A8B8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1828800" cy="3474720"/>
          </a:xfrm>
          <a:prstGeom prst="rect">
            <a:avLst/>
          </a:prstGeom>
          <a:solidFill>
            <a:srgbClr val="0D2D4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First-Mover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SFDA-accredited BE center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1097280"/>
            <a:ext cx="1828800" cy="3474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Motat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23774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12-18 month barrier to entry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1828800" cy="3474720"/>
          </a:xfrm>
          <a:prstGeom prst="rect">
            <a:avLst/>
          </a:prstGeom>
          <a:solidFill>
            <a:srgbClr val="0A8B8B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23774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2,000+ drugs awaiting localization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1097280"/>
            <a:ext cx="1645920" cy="347472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13716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66560" y="23774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20-30% lower cost, 6-12 months faster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D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Strategy &amp; Investment Stages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A8B8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384048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8B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I (2026)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Facility buildout (850m²)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GLP certification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LC-MS/MS equipment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deployment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staffing (20 FTE)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840480" cy="3474720"/>
          </a:xfrm>
          <a:prstGeom prst="rect">
            <a:avLst/>
          </a:prstGeom>
          <a:solidFill>
            <a:srgbClr val="F5F7FA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II (2027-2028)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$3.0M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937760" y="214884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expansion (24→48 beds)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LC-MS/MS instruments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enhancement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scaling (45+ FTE)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expansion prep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D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&amp; Return Profile (Base Case)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A8B8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5-Year Hold | Exit 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560320" cy="2560320"/>
          </a:xfrm>
          <a:prstGeom prst="rect">
            <a:avLst/>
          </a:prstGeom>
          <a:solidFill>
            <a:srgbClr val="0D2D4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8x EBITDA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(2031 EBITDA: $6.9M)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645920"/>
            <a:ext cx="2560320" cy="2560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920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12.2x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474720" y="2606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on Invested Capital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2560320" cy="2560320"/>
          </a:xfrm>
          <a:prstGeom prst="rect">
            <a:avLst/>
          </a:prstGeom>
          <a:solidFill>
            <a:srgbClr val="0A8B8B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920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217920" y="2606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5-Year Internal Rate of Return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$4.5M | Free Cash Flow (2026-2031): $18M+ | Payback Period: ~2 Years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D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Vision &amp; Expansion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A8B8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(2026):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&amp; SFDA accreditation (20 studies, 50 technicians trained)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(2027-2028):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to 100+ studies capacity, 25-30 publications/year, 150-200 technicians trained annually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(2029-2030):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Biosimilars, GCC expansion (UAE/Qatar), second facility, regional training hub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4+ (2031+):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leadership, $50M+ valuation, pharmaceutical independence for Saudi Arabia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7680960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114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2030 Impact: 40% local manufacturing mandate, 70+ direct jobs, $55M+ economic value creation, reduced pharmaceutical dependency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D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A8B8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Key Investment Drivers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76809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TAM: $3.37B → $5.32B market with 2,000+ drugs awaiting localization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First-mover: Only SFDA-accredited BE center with 12-18 month regulatory barrier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Capital-light: $4.5M total capex with 42% revenue CAGR and 43.9% EBITDA margins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economics: 60% gross margins, profitable Year 1, $18M+ cumulative FCF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Exceptional returns: 12.2x MOIC, 71% IRR, $55M exit valuation (5-year hold)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partnerships: CARE Medical + KFSHRC reduce standalone capex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support: Vision 2030 mandate drives demand and regulatory certainty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exits: Strategic acquisition, IPO, or dividend recapitalization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2D4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0916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Seeking $4.5M in growth capital for Series A funding | Target: Sovereign wealth funds, infrastructure investors, strategic partners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NAMA Bio | Investor Presentation | Confidential</dc:title>
  <dc:subject>PptxGenJS Presentation</dc:subject>
  <dc:creator>NAMA Bio</dc:creator>
  <cp:lastModifiedBy>NAMA Bio</cp:lastModifiedBy>
  <cp:revision>1</cp:revision>
  <dcterms:created xsi:type="dcterms:W3CDTF">2026-02-28T11:44:33Z</dcterms:created>
  <dcterms:modified xsi:type="dcterms:W3CDTF">2026-02-28T11:44:33Z</dcterms:modified>
</cp:coreProperties>
</file>