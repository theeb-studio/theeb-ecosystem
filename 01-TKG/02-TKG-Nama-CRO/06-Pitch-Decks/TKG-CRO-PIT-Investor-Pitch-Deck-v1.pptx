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Medical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Sovereign Clinical Research Organization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 Accredited | KSA, UAE, Egypt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Sovereign Data Gap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Loss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 flows to international sponsors without creating local knowledge assets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Translation Lag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between global trial data and local clinical decision-making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Deficit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069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workforce lacks exposure to modern clinical research methodologies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pharma market: $500M+ | Growing 15-20% annually | Dependent entirely on international CROs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Medical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sovereign CRO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 accredited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clinical research platform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KSA, UAE, Egypt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2023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faster trial completion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lower operational costs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approach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expertise &amp; partnerships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00" cy="1645920"/>
          </a:xfrm>
          <a:prstGeom prst="rect">
            <a:avLst/>
          </a:prstGeom>
          <a:solidFill>
            <a:srgbClr val="0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KSA/GCC Clinical Research Services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Drivers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trial volumes growing 15-20% annually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localization initiatives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pharma R&amp;D investment in region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push for local evidence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Portfolio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Interventional Trials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933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Bioequivalence Studies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19933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3230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243230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712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28712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101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Writing 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33101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 Services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73152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879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&amp; Dissemination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41879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481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Leadership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in AI-augmented CRO operations in MENA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1481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Relationships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SFDA connections and regional health authority alignment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624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lower operational costs while maintaining quality standards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2624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CRO + SMO + RWE reduces customer switching costs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767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proximity to underserved populations in KSA/GCC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3767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connection to Waraqa, Nama Knowledge, Nama Bio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Trajectory: Revenue Growth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1920240"/>
            <a:ext cx="2011680" cy="1097280"/>
          </a:xfrm>
          <a:prstGeom prst="rect">
            <a:avLst/>
          </a:prstGeom>
          <a:solidFill>
            <a:srgbClr val="F5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7665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2025-2031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75120" y="3200400"/>
            <a:ext cx="2011680" cy="1097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76656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Profitability: EBITDA Inflection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Timeline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1920240"/>
            <a:ext cx="2011680" cy="822960"/>
          </a:xfrm>
          <a:prstGeom prst="rect">
            <a:avLst/>
          </a:prstGeom>
          <a:solidFill>
            <a:srgbClr val="0B3A5C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2240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EBITDA+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2514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675120" y="2880360"/>
            <a:ext cx="2011680" cy="822960"/>
          </a:xfrm>
          <a:prstGeom prst="rect">
            <a:avLst/>
          </a:prstGeom>
          <a:solidFill>
            <a:srgbClr val="0B3A5C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3474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75120" y="3840480"/>
            <a:ext cx="2011680" cy="822960"/>
          </a:xfrm>
          <a:prstGeom prst="rect">
            <a:avLst/>
          </a:prstGeom>
          <a:solidFill>
            <a:srgbClr val="0B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7512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75120" y="44348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AI-Driven Productivity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FTE Growth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846320" y="1463040"/>
            <a:ext cx="3840480" cy="1965960"/>
          </a:xfrm>
          <a:prstGeom prst="rect">
            <a:avLst/>
          </a:prstGeom>
          <a:solidFill>
            <a:srgbClr val="0B3A5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0" y="2011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10.8x improvement by 2031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data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time savings through automation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patient recruitment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monitoring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Scaling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3977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FTE (2025) → 160 FTE (2031) with 3.3x revenue per head increase through AI/ML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Strategy: Capital-Light CRO Model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4114800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 Years (2025-2026)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Facilities &amp; Tech 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Team Scaling &amp; Sales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FCF 2025-2030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$35M+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Returns: Path to Exit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Milestones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1097280"/>
          </a:xfrm>
          <a:prstGeom prst="rect">
            <a:avLst/>
          </a:prstGeom>
          <a:solidFill>
            <a:srgbClr val="F5F7F9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(2025)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2560320" cy="1097280"/>
          </a:xfrm>
          <a:prstGeom prst="rect">
            <a:avLst/>
          </a:prstGeom>
          <a:solidFill>
            <a:srgbClr val="F5F7F9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(2026)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Post-investment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560320" cy="1097280"/>
          </a:xfrm>
          <a:prstGeom prst="rect">
            <a:avLst/>
          </a:prstGeom>
          <a:solidFill>
            <a:srgbClr val="F5F7F9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Target (2030)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 revenue multiple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2011680" cy="1097280"/>
          </a:xfrm>
          <a:prstGeom prst="rect">
            <a:avLst/>
          </a:prstGeom>
          <a:solidFill>
            <a:srgbClr val="F5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86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20.0x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Investment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3794760"/>
            <a:ext cx="2011680" cy="1097280"/>
          </a:xfrm>
          <a:prstGeom prst="rect">
            <a:avLst/>
          </a:prstGeom>
          <a:solidFill>
            <a:srgbClr val="F5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886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92608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3794760"/>
            <a:ext cx="2011680" cy="1097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886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$35M+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30352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Executive Team | 80+ Years Combined Experience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Theeb Alkahtani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&amp; CEO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MD, MBE | 15+ years healthcare innovation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Raed Al Tulayhi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2585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Clinical Operations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96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MD, MSc Clinical Research | Phase I-IV expertise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Hussein Fathy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Quality &amp; Compliance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BPharm, MSc Quality | ICH-GCP E6 specialist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Taha Linjawi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1272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Business Development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CPA, MBA Healthcare | Revenue &amp; partnerships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Akrum Aljabri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959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Biometrics &amp; Data Science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PharmD | Biostatistics &amp; AI/ML leader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Marwa Adel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9959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Regulatory Affairs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233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BPharm | ICH E3 medical writing expert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&amp; Growing Market: $500M+ TAM with 15-20% annual growth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Advantage: Only AI-augmented CRO in MENA region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Unit Economics: 10.8x revenue per FTE improvement by 2031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Profitability: EBITDA positive 2027 with 36% margins by 2031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Team: 80+ years combined experience with deep regional networks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Returns: 20.0x MOIC and 58.5% IRR over 5-year hold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solidFill>
            <a:srgbClr val="0B3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$5 Million 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Investment Over 2 Years
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Sovereign Clinical Data Generation Platform for MENA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NAMA Medical as Premier Regional CRO Leader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 and next steps available upon NDA signature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NAMA Medical | Investor Presentation | Confidential</dc:title>
  <dc:subject>PptxGenJS Presentation</dc:subject>
  <dc:creator>NAMA Medical</dc:creator>
  <cp:lastModifiedBy>NAMA Medical</cp:lastModifiedBy>
  <cp:revision>1</cp:revision>
  <dcterms:created xsi:type="dcterms:W3CDTF">2026-02-28T11:44:32Z</dcterms:created>
  <dcterms:modified xsi:type="dcterms:W3CDTF">2026-02-28T11:44:32Z</dcterms:modified>
</cp:coreProperties>
</file>